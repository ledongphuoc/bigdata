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8"/>
    <p:sldId id="258" r:id="rId9"/>
    <p:sldId id="259" r:id="rId10"/>
    <p:sldId id="260" r:id="rId11"/>
    <p:sldId id="261" r:id="rId12"/>
    <p:sldId id="262" r:id="rId13"/>
    <p:sldId id="263" r:id="rId14"/>
    <p:sldId id="264" r:id="rId15"/>
    <p:sldId id="265" r:id="rId5"/>
    <p:sldId id="266" r:id="rId4"/>
    <p:sldId id="267" r:id="rId3"/>
    <p:sldId id="268" r:id="rId2"/>
    <p:sldId id="269" r:id="rId20"/>
    <p:sldId id="270" r:id="rId21"/>
    <p:sldId id="271" r:id="rId22"/>
    <p:sldId id="272" r:id="rId23"/>
    <p:sldId id="273" r:id="rId24"/>
    <p:sldId id="274" r:id="rId25"/>
    <p:sldId id="275" r:id="rId26"/>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10"/>
    <p:restoredTop sz="94652"/>
  </p:normalViewPr>
  <p:slideViewPr>
    <p:cSldViewPr snapToGrid="0">
      <p:cViewPr varScale="1">
        <p:scale>
          <a:sx n="51" d="100"/>
          <a:sy n="51" d="100"/>
        </p:scale>
        <p:origin x="208" y="1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3.xml"/><Relationship Id="rId3" Type="http://schemas.openxmlformats.org/officeDocument/2006/relationships/slide" Target="slides/slide12.xml"/><Relationship Id="rId4" Type="http://schemas.openxmlformats.org/officeDocument/2006/relationships/slide" Target="slides/slide11.xml"/><Relationship Id="rId5" Type="http://schemas.openxmlformats.org/officeDocument/2006/relationships/slide" Target="slides/slide10.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tên đề tài và sản phẩm Job Referral Network. Điền thông tin nhóm, MSSV, lớp và giảng viên trước buổi trình bày; các thông tin này chưa được cung cấp. Bài trình bày dự kiến 12–15 phút, dành thêm thời gian nếu demo trực tiếp. Ngày chốt nội dung 12/10/2026.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nghiệp vụ giả định, chưa có khảo sát phỏng vấn doanh nghiệp cụ thể. Hai bài toán riêng: đối chiếu hồ sơ với công việc và tìm người giới thiệu qua mạng lưới. Source: detai.md; docs/requirements.md; báo cáo chương 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ArangoDB 3.12 lưu các thực thể như JSON documents và quan hệ qua edges trong property graph. Cạnh _from/_to luôn có chiều nhưng traversal ANY có thể đi hai chiều. Named graph khai báo loại quan hệ. Nguồn chính thức: https://docs.arango.ai/arangodb/3.12/graphs/ ; https://docs.arango.ai/arangodb/3.12/aql/ . Truy cập khi biên soạn báo cáo ngày 12/10/2026.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Lựa chọn dựa trên sự phù hợp mô hình của bài toán, không phải phép so sánh hiệu năng với SQL hoặc Neo4j. Named graph không tự bảo đảm toàn vẹn khi mọi thao tác đều đi qua raw document API: dự án kiểm tra bổ sung tại service/repository. Nguồn: docs/database/graph-schema.md; docs/database/query-design.md; tài liệu Graphs chính thức.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React/TypeScript dùng TanStack Query; Nginx proxy sang FastAPI; backend chia API/schema/service/repository; python-arango gọi AQL/transaction. Frontend không truy cập database trực tiếp. Nguồn: compose.yaml; backend/modules/; frontend/src/;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Named graph: jobReferralGraph. connections chỉ một cạnh/cặp canonical người dùng, traversal ANY. works_at: user→company; has_skill: user→skill; job_requires_skill: job→skill; job_at_company: job→company. Không suy ra quen biết từ cùng công ty/kỹ năng. Nguồn: database/migrations/; docs/database/graph-schema.md.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Snapshot ngày 12/10/2026: KMS 5 jobs, Bosch 12, Grab 12; 28 skills. Dữ liệu chuẩn hóa không đại diện toàn bộ tin tuyển dụng của các công ty. Tin thiếu lương/kinh nghiệm không được điền giả; skills trích từ nguồn lưu preferred nếu chưa xác định required. Công ty public chưa có nhân viên được xác minh trong ứng dụng. Nguồn: docs/public-data.md; database/catalog/public_jobs_2026-10-12.json.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Công thức database/queries.py và database/aql/matching_rows.aql: S=.4K+.2E+.15L+.15V+.1W. K dùng required/preferred importance, xét proficiency/years; nếu có cả hai: .8R+.2P. E=min(1,years/min_years), min=0→1, dữ liệu yêu cầu thiếu→0. Remote hoặc location bằng nhau→L=1. Level exact→V=1. Work mode trong preference→W=1. Salary_overlap chỉ diagnostic. Đây là quy tắc, chưa được hiệu chỉnh theo labels tuyển dụng. Eligible khác matched_only.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Ví dụ fixture A→B→C với C làm tại X current/verified. Hops chỉ đếm connections, không tính works_at. Tối đa 3 hops; ANY trên named graph nhưng chỉ duyệt connections/users. Endpoint cần employment current/verified và visibility. Khi không có nhân viên public được xác minh, danh sách rỗng là đúng. Nguồn: path_rows.aql; employees_rows.aql; arango-behavior-proof.json.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Đoạn code là trích rút để giải thích, không phải query đầy đủ. PRUNE phải có guard e!=null ở root. FILTER !invalid loại node tại điểm dừng. uniqueVertices=path giữ đường thay thế và tránh lặp đỉnh trên đường. Nguồn chính xác: database/aql/path_rows.aql và database/queries.py. Tài liệu: https://docs.arango.ai/arangodb/3.12/aql/graph-queries/traversals/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D=.6×mean declared trust+.4×1/hops. Fixture 2 hops mean trust=.85→.71. Đường 3 hops có .673333. Missing trust=.5; không phải xác suất. Shortest mode sort hops trước score; mặc định score trước hops. Jobs_with_referral giữ eligible rồi sort job_score trước path_score. Nguồn: path_rows.aql; jobs_with_referral.aql; arango-behavior-proof.json.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artifact browser trên fixture, không phải nhân viên hoặc vị trí tuyển dụng thực đã xác minh. Dashboard gọi /matching/jobs; /jobs?view=recommended hỗ trợ filter/pagination. Thêm/xóa skill invalidates query cache; headline không tự chuyển thành skill. matched_only=true yêu cầu ít nhất một skill matched. Nguồn: docs/reports/frontend-dashboard-1440.png; recommendations-fix-2026-10-12.md.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artifact frontend-paths-1440.png trên fixture. React Flow vẽ vertices và edges từ response /graph/referral-paths; không tự tính đường tại browser. Hiển thị hai đường thay thế, hops, trust, điểm và current_verified_employee. Referrer C trong ảnh là kiểm thử. Source: docs/reports/frontend-paths-1440.png; docs/arango-proof-guide.md.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Đường chính pending→accepted→submitted→completed. pending có thể rejected/cancelled/expired; accepted có thể cancelled/expired. Candidate hủy; referrer xử lý. Create/accept/submit kiểm tra lại policy/job/employment/path. Submitted lưu evidence_ref, chưa gửi email hoặc ATS. Ghi referral/history/notification/audit trong transaction, revision If-Match và idempotency chống trùng. Nguồn: backend/modules/referrals/; docs/backend.md.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Artifact arango-behavior-proof.json ngày 12/10/2026: baseline 2/3 hops. after_block_b_c còn 3 hops; after_b_disallows_paths còn 3 hops; after_c_employment_unverified=[]; plan có TraversalNode/IndexNode và company_current_employees; schema error1620 transaction_rolled_back=true; main_database_modified=false và isolated_database_cleaned_up=true. Script scripts/prove_arangodb.py dùng database UUID thật, không mutate main.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liệu từ artifact đã có, không phải lượt chạy mới khi biên soạn PPT. recommendations-regression.xml: 167 tests, không fail/error/skip, 533,522 giây. recommendations-verified-playwright.xml: 20 tests, không fail/error/skip, 124,387 giây. arango-proof-tests.xml: 21 tests, không fail/error/skip, 141,334 giây. Các tập có thể chồng lặp, không cộng thành 188. Fixtures nghiệp vụ giả lập nhưng DB/HTTP thật; ArangoDB 3.12.12. Lượt browser đầu có 19 pass, 1 fail do email .test; sửa fixture sang .com rồi chạy lại đạt 20 pass.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docs/reports/benchmark.json, ghi cho ngày 11/10/2026, trước cập nhật catalog public và giao diện gợi ý. Dataset synthetic có 1.134 users, 1.128 connections, 1.012 works_at; branching 10, depth 3. Mỗi query chạy 20 lần tuần tự, warm, local Docker. p95: job_matches 14,4849 ms; paths_depth_3 388,7014 ms; jobs_with_referral 580,4688 ms. Đây chưa là benchmark catalog hiện tại, không đo concurrency, SLA hoặc cluster. Cần chạy lại khi dữ liệu và cấu hình thay đổi.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bị Docker healthy, python -m database.cli verify. Demo dữ liệu public cho nguồn và matching; fixture riêng cho graph/referral. Chạy scripts/prove_arangodb.py để chứng minh mutation/index/rollback. Browser interactive: PowerShell env:JRN_E2E_REPORT_PREFIX=arango-interactive; .venv\Scripts\python.exe scripts/check_frontend.py --debug --grep "đăng ký →". Script tạo backend/Vite ports riêng và UUID DB/user, cleanup khi kết thúc. Không cần mutate main DB hoặc gán nhân viên giả cho public employers. Chi tiết docs/demo-guide.md, docs/arango-proof-guide.md.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docs/demo-guide.md, public-data.md, deployment.md, security-summary.json và security-review-2026-10-11.md. Trọng số chưa được hiệu chỉnh bằng nhãn thực; chưa đánh giá Precision@K/NDCG. Catalog là snapshot, chưa có scheduler cập nhật; các công ty public chưa có nhân viên được xác minh. Upload CV, email và ATS chưa triển khai. Depth tối đa 3 và khóa transaction rộng; benchmark tuần tự. production_ready=false; image findings mức HIGH, TLS, tải và vận hành còn cần xử lý. Hướng phát triển là kế hoạch, chưa được tính là kết quả hoàn thành.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ArangoDB lưu thực thể và quan hệ, thực thi AQL cho matching và traversal. Sản phẩm có luồng giao diện–API–database, điểm giải thích và workflow; bằng chứng kiểm thử graph/rollback trên local. Không suy ra xác suất tuyển dụng hoặc production readiness. Tài liệu chính thức đã đọc: https://docs.arango.ai/arangodb/3.12/graphs/ ; https://docs.arango.ai/arangodb/3.12/aql/ ; https://docs.arango.ai/arangodb/3.12/aql/graph-queries/traversals/ . Source: D:\bigdata; docs/bao-cao-arangodb.md; docs/reports/; docs/arango-proof-guide.md. Thông tin nhóm và giảng viên còn cần bổ sung.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FA5C7D-F076-ABAB-28ED-936E6476926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12" name="Rectangle 11">
            <a:extLst>
              <a:ext uri="{FF2B5EF4-FFF2-40B4-BE49-F238E27FC236}">
                <a16:creationId xmlns:a16="http://schemas.microsoft.com/office/drawing/2014/main" id="{76CBF138-DDAA-03AE-2BFD-F0E6E77D089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7" name="Picture 16">
            <a:extLst>
              <a:ext uri="{FF2B5EF4-FFF2-40B4-BE49-F238E27FC236}">
                <a16:creationId xmlns:a16="http://schemas.microsoft.com/office/drawing/2014/main" id="{A6B26E30-45B4-E434-42E3-BFE66D53EBB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6" name="Slide Number Placeholder 5"/>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5" name="TextBox 14">
            <a:extLst>
              <a:ext uri="{FF2B5EF4-FFF2-40B4-BE49-F238E27FC236}">
                <a16:creationId xmlns:a16="http://schemas.microsoft.com/office/drawing/2014/main" id="{EF8EE5A3-86BB-B40C-62D9-2E005424811B}"/>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20" name="Picture 19" descr="A building with trees in the background&#10;&#10;Description automatically generated">
            <a:extLst>
              <a:ext uri="{FF2B5EF4-FFF2-40B4-BE49-F238E27FC236}">
                <a16:creationId xmlns:a16="http://schemas.microsoft.com/office/drawing/2014/main" id="{633C415B-DE87-6E90-4B13-A134B02EF4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160" y="5045074"/>
            <a:ext cx="12202160" cy="1676400"/>
          </a:xfrm>
          <a:prstGeom prst="rect">
            <a:avLst/>
          </a:prstGeom>
        </p:spPr>
      </p:pic>
      <p:sp>
        <p:nvSpPr>
          <p:cNvPr id="21" name="TextBox 20">
            <a:extLst>
              <a:ext uri="{FF2B5EF4-FFF2-40B4-BE49-F238E27FC236}">
                <a16:creationId xmlns:a16="http://schemas.microsoft.com/office/drawing/2014/main" id="{C088D834-70EE-F737-6AE1-030852F6AA55}"/>
              </a:ext>
            </a:extLst>
          </p:cNvPr>
          <p:cNvSpPr txBox="1"/>
          <p:nvPr userDrawn="1"/>
        </p:nvSpPr>
        <p:spPr>
          <a:xfrm>
            <a:off x="2545718" y="32083"/>
            <a:ext cx="7090403" cy="646331"/>
          </a:xfrm>
          <a:prstGeom prst="rect">
            <a:avLst/>
          </a:prstGeom>
          <a:noFill/>
        </p:spPr>
        <p:txBody>
          <a:bodyPr wrap="none" rtlCol="0">
            <a:spAutoFit/>
          </a:bodyPr>
          <a:lstStyle/>
          <a:p>
            <a:pPr algn="ctr"/>
            <a:r>
              <a:rPr lang="en-US" sz="1800">
                <a:solidFill>
                  <a:schemeClr val="bg1"/>
                </a:solidFill>
                <a:latin typeface="Arial" panose="020B0604020202020204" pitchFamily="34" charset="0"/>
                <a:cs typeface="Arial" panose="020B0604020202020204" pitchFamily="34" charset="0"/>
              </a:rPr>
              <a:t>BỘ CÔNG THƯƠNG</a:t>
            </a:r>
          </a:p>
          <a:p>
            <a:pPr algn="ctr"/>
            <a:r>
              <a:rPr lang="en-US" sz="1800" b="1">
                <a:solidFill>
                  <a:schemeClr val="bg1"/>
                </a:solidFill>
                <a:latin typeface="Arial" panose="020B0604020202020204" pitchFamily="34" charset="0"/>
                <a:cs typeface="Arial" panose="020B0604020202020204" pitchFamily="34" charset="0"/>
              </a:rPr>
              <a:t>TRƯỜNG ĐẠI HỌC CÔNG THƯƠNG THÀNH PHỐ HỒ CHÍ MINH</a:t>
            </a:r>
            <a:endParaRPr lang="en-VN" sz="1800" b="1">
              <a:solidFill>
                <a:schemeClr val="bg1"/>
              </a:solidFill>
              <a:latin typeface="Arial" panose="020B0604020202020204" pitchFamily="34" charset="0"/>
              <a:cs typeface="Arial" panose="020B0604020202020204" pitchFamily="34" charset="0"/>
            </a:endParaRPr>
          </a:p>
        </p:txBody>
      </p:sp>
      <p:pic>
        <p:nvPicPr>
          <p:cNvPr id="23" name="Picture 22" descr="A white circle with blue and red text and a book with a graduation cap&#10;&#10;Description automatically generated">
            <a:extLst>
              <a:ext uri="{FF2B5EF4-FFF2-40B4-BE49-F238E27FC236}">
                <a16:creationId xmlns:a16="http://schemas.microsoft.com/office/drawing/2014/main" id="{CC7CB636-E017-BD51-B7F7-2797B5CEAFFA}"/>
              </a:ext>
            </a:extLst>
          </p:cNvPr>
          <p:cNvPicPr>
            <a:picLocks/>
          </p:cNvPicPr>
          <p:nvPr userDrawn="1"/>
        </p:nvPicPr>
        <p:blipFill>
          <a:blip r:embed="rId4" cstate="screen">
            <a:extLst>
              <a:ext uri="{28A0092B-C50C-407E-A947-70E740481C1C}">
                <a14:useLocalDpi xmlns:a14="http://schemas.microsoft.com/office/drawing/2010/main"/>
              </a:ext>
            </a:extLst>
          </a:blip>
          <a:stretch>
            <a:fillRect/>
          </a:stretch>
        </p:blipFill>
        <p:spPr>
          <a:xfrm>
            <a:off x="356133" y="18061"/>
            <a:ext cx="666000" cy="666000"/>
          </a:xfrm>
          <a:prstGeom prst="rect">
            <a:avLst/>
          </a:prstGeom>
        </p:spPr>
      </p:pic>
    </p:spTree>
    <p:extLst>
      <p:ext uri="{BB962C8B-B14F-4D97-AF65-F5344CB8AC3E}">
        <p14:creationId xmlns:p14="http://schemas.microsoft.com/office/powerpoint/2010/main" val="223902314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D56CA0-7F99-A73F-EC74-87E2C37C45F8}"/>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5"/>
            <a:ext cx="10515600" cy="806384"/>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A black background with white text&#10;&#10;Description automatically generated">
            <a:extLst>
              <a:ext uri="{FF2B5EF4-FFF2-40B4-BE49-F238E27FC236}">
                <a16:creationId xmlns:a16="http://schemas.microsoft.com/office/drawing/2014/main" id="{636941E3-E3EC-8EF3-53CB-96FCF404C8E3}"/>
              </a:ext>
            </a:extLst>
          </p:cNvPr>
          <p:cNvPicPr>
            <a:picLocks/>
          </p:cNvPicPr>
          <p:nvPr userDrawn="1"/>
        </p:nvPicPr>
        <p:blipFill>
          <a:blip r:embed="rId2"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
        <p:nvSpPr>
          <p:cNvPr id="11" name="Rectangle 11">
            <a:extLst>
              <a:ext uri="{FF2B5EF4-FFF2-40B4-BE49-F238E27FC236}">
                <a16:creationId xmlns:a16="http://schemas.microsoft.com/office/drawing/2014/main" id="{D433E92D-1893-9769-8444-34EEDD3F24BC}"/>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2" name="Picture 11">
            <a:extLst>
              <a:ext uri="{FF2B5EF4-FFF2-40B4-BE49-F238E27FC236}">
                <a16:creationId xmlns:a16="http://schemas.microsoft.com/office/drawing/2014/main" id="{2550C907-0A3F-10BA-C15C-CA461460FE94}"/>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3" name="Slide Number Placeholder 5">
            <a:extLst>
              <a:ext uri="{FF2B5EF4-FFF2-40B4-BE49-F238E27FC236}">
                <a16:creationId xmlns:a16="http://schemas.microsoft.com/office/drawing/2014/main" id="{FB4E7459-A8A2-5081-F907-74BAE4176EAC}"/>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4" name="TextBox 13">
            <a:extLst>
              <a:ext uri="{FF2B5EF4-FFF2-40B4-BE49-F238E27FC236}">
                <a16:creationId xmlns:a16="http://schemas.microsoft.com/office/drawing/2014/main" id="{920F50DE-1588-0A68-B2AE-03A7C3A9B079}"/>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spTree>
    <p:extLst>
      <p:ext uri="{BB962C8B-B14F-4D97-AF65-F5344CB8AC3E}">
        <p14:creationId xmlns:p14="http://schemas.microsoft.com/office/powerpoint/2010/main" val="3677958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7" name="Rectangle 6">
            <a:extLst>
              <a:ext uri="{FF2B5EF4-FFF2-40B4-BE49-F238E27FC236}">
                <a16:creationId xmlns:a16="http://schemas.microsoft.com/office/drawing/2014/main" id="{BFDCC048-85E1-D9DE-466A-D5EAB21DAFC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9" name="Rectangle 11">
            <a:extLst>
              <a:ext uri="{FF2B5EF4-FFF2-40B4-BE49-F238E27FC236}">
                <a16:creationId xmlns:a16="http://schemas.microsoft.com/office/drawing/2014/main" id="{0547C463-86A8-9ADB-B42F-6F8F911146A4}"/>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DC2EE3A5-6242-A6B2-F6B4-2094B545F5E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A9473FA4-C6C6-7E97-AACE-A35CFDAB768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2" name="TextBox 11">
            <a:extLst>
              <a:ext uri="{FF2B5EF4-FFF2-40B4-BE49-F238E27FC236}">
                <a16:creationId xmlns:a16="http://schemas.microsoft.com/office/drawing/2014/main" id="{5C851853-8430-FC7D-0C05-EA3095D410B2}"/>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6" name="Picture 5" descr="A black background with white text&#10;&#10;Description automatically generated">
            <a:extLst>
              <a:ext uri="{FF2B5EF4-FFF2-40B4-BE49-F238E27FC236}">
                <a16:creationId xmlns:a16="http://schemas.microsoft.com/office/drawing/2014/main" id="{A632828F-0B4F-8119-5B19-088A1173C90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91189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77EE82EC-C435-7D46-EFDD-D5C6A244EEA6}"/>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977329"/>
            <a:ext cx="10515600" cy="713361"/>
          </a:xfrm>
        </p:spPr>
        <p:txBody>
          <a:bodyPr/>
          <a:lstStyle/>
          <a:p>
            <a:r>
              <a:rPr lang="en-US" dirty="0"/>
              <a:t>Click to edit Master title style</a:t>
            </a:r>
          </a:p>
        </p:txBody>
      </p:sp>
      <p:sp>
        <p:nvSpPr>
          <p:cNvPr id="10" name="Rectangle 11">
            <a:extLst>
              <a:ext uri="{FF2B5EF4-FFF2-40B4-BE49-F238E27FC236}">
                <a16:creationId xmlns:a16="http://schemas.microsoft.com/office/drawing/2014/main" id="{CE50E531-FF89-E7A1-EC42-5664726867C2}"/>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9A4D41C0-EECC-510F-3124-F7EBC163F88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41F0268C-2917-2762-4664-C6ACF3587D3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FC7AE9E0-DBEB-84FF-4DC2-C53AC3C7993F}"/>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F93BE15D-74FA-AED7-3D2B-A613D05E679B}"/>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042684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6BA13BF4-06A1-B98B-FD59-CA5020C120FA}"/>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866777"/>
            <a:ext cx="10515600" cy="823912"/>
          </a:xfrm>
        </p:spPr>
        <p:txBody>
          <a:bodyPr/>
          <a:lstStyle/>
          <a:p>
            <a:r>
              <a:rPr lang="en-US" dirty="0"/>
              <a:t>Click to edit Master title style</a:t>
            </a:r>
          </a:p>
        </p:txBody>
      </p:sp>
      <p:sp>
        <p:nvSpPr>
          <p:cNvPr id="12" name="Rectangle 11">
            <a:extLst>
              <a:ext uri="{FF2B5EF4-FFF2-40B4-BE49-F238E27FC236}">
                <a16:creationId xmlns:a16="http://schemas.microsoft.com/office/drawing/2014/main" id="{228D1E83-C000-B443-17A1-67E172C1C81A}"/>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3" name="Picture 12">
            <a:extLst>
              <a:ext uri="{FF2B5EF4-FFF2-40B4-BE49-F238E27FC236}">
                <a16:creationId xmlns:a16="http://schemas.microsoft.com/office/drawing/2014/main" id="{E4F5B01C-A4C1-2548-9E99-49DA8F4F39A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4" name="Slide Number Placeholder 5">
            <a:extLst>
              <a:ext uri="{FF2B5EF4-FFF2-40B4-BE49-F238E27FC236}">
                <a16:creationId xmlns:a16="http://schemas.microsoft.com/office/drawing/2014/main" id="{9D622E35-ED11-3E1D-3267-FB7969EBB673}"/>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5" name="TextBox 14">
            <a:extLst>
              <a:ext uri="{FF2B5EF4-FFF2-40B4-BE49-F238E27FC236}">
                <a16:creationId xmlns:a16="http://schemas.microsoft.com/office/drawing/2014/main" id="{E95FADBA-93BC-7FCB-D7C6-2138FE10BECE}"/>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7" name="Picture 6" descr="A black background with white text&#10;&#10;Description automatically generated">
            <a:extLst>
              <a:ext uri="{FF2B5EF4-FFF2-40B4-BE49-F238E27FC236}">
                <a16:creationId xmlns:a16="http://schemas.microsoft.com/office/drawing/2014/main" id="{2F168AC0-F6F3-71BB-BDB7-D14C957BCB1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131784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A521EA7-200B-F8EF-FA1A-AF68F6EAFB52}"/>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74059"/>
            <a:ext cx="10515600" cy="816630"/>
          </a:xfrm>
        </p:spPr>
        <p:txBody>
          <a:bodyPr/>
          <a:lstStyle/>
          <a:p>
            <a:r>
              <a:rPr lang="en-US" dirty="0"/>
              <a:t>Click to edit Master title style</a:t>
            </a:r>
          </a:p>
        </p:txBody>
      </p:sp>
      <p:sp>
        <p:nvSpPr>
          <p:cNvPr id="8" name="Rectangle 11">
            <a:extLst>
              <a:ext uri="{FF2B5EF4-FFF2-40B4-BE49-F238E27FC236}">
                <a16:creationId xmlns:a16="http://schemas.microsoft.com/office/drawing/2014/main" id="{C62A9323-B343-0333-2A84-AB84726F155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2472A695-B9BF-2B5E-F712-588F45EA7A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50B28936-A209-8496-713D-69F064437D73}"/>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1" name="TextBox 10">
            <a:extLst>
              <a:ext uri="{FF2B5EF4-FFF2-40B4-BE49-F238E27FC236}">
                <a16:creationId xmlns:a16="http://schemas.microsoft.com/office/drawing/2014/main" id="{6E1FC07C-FFBA-6E41-FC9E-B8C545CCA2CA}"/>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3" name="Picture 2" descr="A black background with white text&#10;&#10;Description automatically generated">
            <a:extLst>
              <a:ext uri="{FF2B5EF4-FFF2-40B4-BE49-F238E27FC236}">
                <a16:creationId xmlns:a16="http://schemas.microsoft.com/office/drawing/2014/main" id="{943E1AB2-24F0-751B-86DE-9AC77889FA3E}"/>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808962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1F72B6"/>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A64684-422C-D171-0292-6610A91BE81D}"/>
              </a:ext>
            </a:extLst>
          </p:cNvPr>
          <p:cNvSpPr/>
          <p:nvPr userDrawn="1"/>
        </p:nvSpPr>
        <p:spPr>
          <a:xfrm>
            <a:off x="0" y="-8444"/>
            <a:ext cx="12192000" cy="7133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pic>
        <p:nvPicPr>
          <p:cNvPr id="6" name="Picture 5">
            <a:extLst>
              <a:ext uri="{FF2B5EF4-FFF2-40B4-BE49-F238E27FC236}">
                <a16:creationId xmlns:a16="http://schemas.microsoft.com/office/drawing/2014/main" id="{4FD82848-CD15-3DBB-0148-67FB51371B08}"/>
              </a:ext>
            </a:extLst>
          </p:cNvPr>
          <p:cNvPicPr>
            <a:picLocks/>
          </p:cNvPicPr>
          <p:nvPr userDrawn="1"/>
        </p:nvPicPr>
        <p:blipFill>
          <a:blip r:embed="rId2" cstate="screen">
            <a:extLst>
              <a:ext uri="{28A0092B-C50C-407E-A947-70E740481C1C}">
                <a14:useLocalDpi xmlns:a14="http://schemas.microsoft.com/office/drawing/2010/main"/>
              </a:ext>
            </a:extLst>
          </a:blip>
          <a:srcRect/>
          <a:stretch/>
        </p:blipFill>
        <p:spPr>
          <a:xfrm>
            <a:off x="318618" y="2224"/>
            <a:ext cx="3290400" cy="685072"/>
          </a:xfrm>
          <a:prstGeom prst="rect">
            <a:avLst/>
          </a:prstGeom>
        </p:spPr>
      </p:pic>
      <p:sp>
        <p:nvSpPr>
          <p:cNvPr id="8" name="Rectangle 11">
            <a:extLst>
              <a:ext uri="{FF2B5EF4-FFF2-40B4-BE49-F238E27FC236}">
                <a16:creationId xmlns:a16="http://schemas.microsoft.com/office/drawing/2014/main" id="{181386B9-1456-137E-66EE-45A4447494C5}"/>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9" name="Picture 8">
            <a:extLst>
              <a:ext uri="{FF2B5EF4-FFF2-40B4-BE49-F238E27FC236}">
                <a16:creationId xmlns:a16="http://schemas.microsoft.com/office/drawing/2014/main" id="{09CB3CD2-68E1-7670-8AC8-DCAEFA04479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0" name="Slide Number Placeholder 5">
            <a:extLst>
              <a:ext uri="{FF2B5EF4-FFF2-40B4-BE49-F238E27FC236}">
                <a16:creationId xmlns:a16="http://schemas.microsoft.com/office/drawing/2014/main" id="{7855B251-549F-CC81-82C4-1791D4DC0F9C}"/>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1" name="TextBox 10">
            <a:extLst>
              <a:ext uri="{FF2B5EF4-FFF2-40B4-BE49-F238E27FC236}">
                <a16:creationId xmlns:a16="http://schemas.microsoft.com/office/drawing/2014/main" id="{2C95FE02-F81D-DAA0-4384-0E62C5A8FC54}"/>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chemeClr val="bg1"/>
                </a:solidFill>
              </a:rPr>
              <a:t>https://huit.edu.vn</a:t>
            </a:r>
            <a:endParaRPr lang="en-VN" sz="1000">
              <a:solidFill>
                <a:schemeClr val="bg1"/>
              </a:solidFill>
            </a:endParaRPr>
          </a:p>
        </p:txBody>
      </p:sp>
    </p:spTree>
    <p:extLst>
      <p:ext uri="{BB962C8B-B14F-4D97-AF65-F5344CB8AC3E}">
        <p14:creationId xmlns:p14="http://schemas.microsoft.com/office/powerpoint/2010/main" val="641512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57654E7B-7E2F-A597-CEAB-D64DA25FBCEB}"/>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EA9AB12A-F2B6-4320-39F1-67F3778EE5DF}"/>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B773966A-35C2-70BC-CFF9-46C3441D8C5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C8C1A7AF-70A0-C0E9-B2F5-1490BE6C7ADB}"/>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CC216FF7-3AE9-85FA-D18A-9862C6DB59AE}"/>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7C0ADFA0-11B6-96C9-35AE-E6733196ACDA}"/>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307160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Rectangle 7">
            <a:extLst>
              <a:ext uri="{FF2B5EF4-FFF2-40B4-BE49-F238E27FC236}">
                <a16:creationId xmlns:a16="http://schemas.microsoft.com/office/drawing/2014/main" id="{4B2A7AA7-CA5F-D2FA-2E5E-C3E10A53D35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9788" y="987426"/>
            <a:ext cx="3932237" cy="1069974"/>
          </a:xfrm>
        </p:spPr>
        <p:txBody>
          <a:bodyPr anchor="b"/>
          <a:lstStyle>
            <a:lvl1pPr>
              <a:defRPr sz="3200"/>
            </a:lvl1pPr>
          </a:lstStyle>
          <a:p>
            <a:r>
              <a:rPr lang="en-US" dirty="0"/>
              <a:t>Click to edit Master title style</a:t>
            </a:r>
          </a:p>
        </p:txBody>
      </p:sp>
      <p:sp>
        <p:nvSpPr>
          <p:cNvPr id="10" name="Rectangle 11">
            <a:extLst>
              <a:ext uri="{FF2B5EF4-FFF2-40B4-BE49-F238E27FC236}">
                <a16:creationId xmlns:a16="http://schemas.microsoft.com/office/drawing/2014/main" id="{1EDE2594-98FA-EBCE-C733-A51E9F54ED18}"/>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1" name="Picture 10">
            <a:extLst>
              <a:ext uri="{FF2B5EF4-FFF2-40B4-BE49-F238E27FC236}">
                <a16:creationId xmlns:a16="http://schemas.microsoft.com/office/drawing/2014/main" id="{AF735AE5-30EC-7992-E657-2104C4F3BF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2" name="Slide Number Placeholder 5">
            <a:extLst>
              <a:ext uri="{FF2B5EF4-FFF2-40B4-BE49-F238E27FC236}">
                <a16:creationId xmlns:a16="http://schemas.microsoft.com/office/drawing/2014/main" id="{ACB5785D-C6E0-0BB4-B792-5DF6906E162F}"/>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3" name="TextBox 12">
            <a:extLst>
              <a:ext uri="{FF2B5EF4-FFF2-40B4-BE49-F238E27FC236}">
                <a16:creationId xmlns:a16="http://schemas.microsoft.com/office/drawing/2014/main" id="{DDC76ABB-19BA-0D81-2004-CA8C1BFA3211}"/>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5" name="Picture 4" descr="A black background with white text&#10;&#10;Description automatically generated">
            <a:extLst>
              <a:ext uri="{FF2B5EF4-FFF2-40B4-BE49-F238E27FC236}">
                <a16:creationId xmlns:a16="http://schemas.microsoft.com/office/drawing/2014/main" id="{93DEC689-0562-F90A-00BD-D3E65D677F10}"/>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2141388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B4B8236F-F572-6350-D20A-0FCE1F380099}"/>
              </a:ext>
            </a:extLst>
          </p:cNvPr>
          <p:cNvSpPr/>
          <p:nvPr userDrawn="1"/>
        </p:nvSpPr>
        <p:spPr>
          <a:xfrm>
            <a:off x="0" y="-8444"/>
            <a:ext cx="12192000" cy="71336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800"/>
          </a:p>
        </p:txBody>
      </p:sp>
      <p:sp>
        <p:nvSpPr>
          <p:cNvPr id="2" name="Title 1"/>
          <p:cNvSpPr>
            <a:spLocks noGrp="1"/>
          </p:cNvSpPr>
          <p:nvPr>
            <p:ph type="title"/>
          </p:nvPr>
        </p:nvSpPr>
        <p:spPr>
          <a:xfrm>
            <a:off x="838200" y="884304"/>
            <a:ext cx="10515600" cy="806385"/>
          </a:xfrm>
        </p:spPr>
        <p:txBody>
          <a:bodyPr/>
          <a:lstStyle/>
          <a:p>
            <a:r>
              <a:rPr lang="en-US" dirty="0"/>
              <a:t>Click to edit Master title style</a:t>
            </a:r>
          </a:p>
        </p:txBody>
      </p:sp>
      <p:sp>
        <p:nvSpPr>
          <p:cNvPr id="9" name="Rectangle 11">
            <a:extLst>
              <a:ext uri="{FF2B5EF4-FFF2-40B4-BE49-F238E27FC236}">
                <a16:creationId xmlns:a16="http://schemas.microsoft.com/office/drawing/2014/main" id="{9C659F1E-1F51-522D-AC8E-BE6E140A9E7D}"/>
              </a:ext>
            </a:extLst>
          </p:cNvPr>
          <p:cNvSpPr/>
          <p:nvPr userDrawn="1"/>
        </p:nvSpPr>
        <p:spPr>
          <a:xfrm>
            <a:off x="1775458" y="6721474"/>
            <a:ext cx="10416543" cy="136562"/>
          </a:xfrm>
          <a:custGeom>
            <a:avLst/>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87543" h="136562">
                <a:moveTo>
                  <a:pt x="94130" y="0"/>
                </a:moveTo>
                <a:lnTo>
                  <a:pt x="8187543" y="0"/>
                </a:lnTo>
                <a:lnTo>
                  <a:pt x="8187543" y="133200"/>
                </a:lnTo>
                <a:lnTo>
                  <a:pt x="0" y="136562"/>
                </a:lnTo>
                <a:lnTo>
                  <a:pt x="9413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800"/>
              <a:t> </a:t>
            </a:r>
          </a:p>
        </p:txBody>
      </p:sp>
      <p:pic>
        <p:nvPicPr>
          <p:cNvPr id="10" name="Picture 9">
            <a:extLst>
              <a:ext uri="{FF2B5EF4-FFF2-40B4-BE49-F238E27FC236}">
                <a16:creationId xmlns:a16="http://schemas.microsoft.com/office/drawing/2014/main" id="{9D1B0D34-343B-C838-5720-7351BA57CF3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828826" y="6739175"/>
            <a:ext cx="10363148" cy="101806"/>
          </a:xfrm>
          <a:prstGeom prst="rect">
            <a:avLst/>
          </a:prstGeom>
        </p:spPr>
      </p:pic>
      <p:sp>
        <p:nvSpPr>
          <p:cNvPr id="11" name="Slide Number Placeholder 5">
            <a:extLst>
              <a:ext uri="{FF2B5EF4-FFF2-40B4-BE49-F238E27FC236}">
                <a16:creationId xmlns:a16="http://schemas.microsoft.com/office/drawing/2014/main" id="{2B8E042D-2BAA-2A3F-EC27-380C92DBE4B0}"/>
              </a:ext>
            </a:extLst>
          </p:cNvPr>
          <p:cNvSpPr>
            <a:spLocks noGrp="1"/>
          </p:cNvSpPr>
          <p:nvPr>
            <p:ph type="sldNum" sz="quarter" idx="12"/>
          </p:nvPr>
        </p:nvSpPr>
        <p:spPr>
          <a:xfrm>
            <a:off x="11676283" y="6599573"/>
            <a:ext cx="505557" cy="365125"/>
          </a:xfrm>
        </p:spPr>
        <p:txBody>
          <a:bodyPr/>
          <a:lstStyle>
            <a:lvl1pPr>
              <a:defRPr sz="1000">
                <a:solidFill>
                  <a:schemeClr val="bg1"/>
                </a:solidFill>
              </a:defRPr>
            </a:lvl1pPr>
          </a:lstStyle>
          <a:p>
            <a:fld id="{D379440A-2DED-3643-ADED-9B5C83E7D828}" type="slidenum">
              <a:rPr lang="en-VN"/>
              <a:pPr/>
              <a:t>‹#›</a:t>
            </a:fld>
            <a:endParaRPr lang="en-VN"/>
          </a:p>
        </p:txBody>
      </p:sp>
      <p:sp>
        <p:nvSpPr>
          <p:cNvPr id="12" name="TextBox 11">
            <a:extLst>
              <a:ext uri="{FF2B5EF4-FFF2-40B4-BE49-F238E27FC236}">
                <a16:creationId xmlns:a16="http://schemas.microsoft.com/office/drawing/2014/main" id="{00CD5B80-37F9-BE16-90B3-B1958D8A8755}"/>
              </a:ext>
            </a:extLst>
          </p:cNvPr>
          <p:cNvSpPr txBox="1"/>
          <p:nvPr userDrawn="1"/>
        </p:nvSpPr>
        <p:spPr>
          <a:xfrm>
            <a:off x="140379" y="6663076"/>
            <a:ext cx="1624919" cy="253916"/>
          </a:xfrm>
          <a:prstGeom prst="rect">
            <a:avLst/>
          </a:prstGeom>
          <a:noFill/>
        </p:spPr>
        <p:txBody>
          <a:bodyPr wrap="square" rtlCol="0">
            <a:spAutoFit/>
          </a:bodyPr>
          <a:lstStyle/>
          <a:p>
            <a:r>
              <a:rPr lang="en-US" sz="1000">
                <a:solidFill>
                  <a:srgbClr val="0070C0"/>
                </a:solidFill>
              </a:rPr>
              <a:t>https://huit.edu.vn</a:t>
            </a:r>
            <a:endParaRPr lang="en-VN" sz="1000">
              <a:solidFill>
                <a:srgbClr val="0070C0"/>
              </a:solidFill>
            </a:endParaRPr>
          </a:p>
        </p:txBody>
      </p:sp>
      <p:pic>
        <p:nvPicPr>
          <p:cNvPr id="4" name="Picture 3" descr="A black background with white text&#10;&#10;Description automatically generated">
            <a:extLst>
              <a:ext uri="{FF2B5EF4-FFF2-40B4-BE49-F238E27FC236}">
                <a16:creationId xmlns:a16="http://schemas.microsoft.com/office/drawing/2014/main" id="{E62415AA-63D3-FB51-385B-BC2BCB0599A3}"/>
              </a:ext>
            </a:extLst>
          </p:cNvPr>
          <p:cNvPicPr>
            <a:picLocks/>
          </p:cNvPicPr>
          <p:nvPr userDrawn="1"/>
        </p:nvPicPr>
        <p:blipFill>
          <a:blip r:embed="rId3" cstate="screen">
            <a:extLst>
              <a:ext uri="{28A0092B-C50C-407E-A947-70E740481C1C}">
                <a14:useLocalDpi xmlns:a14="http://schemas.microsoft.com/office/drawing/2010/main"/>
              </a:ext>
            </a:extLst>
          </a:blip>
          <a:stretch>
            <a:fillRect/>
          </a:stretch>
        </p:blipFill>
        <p:spPr>
          <a:xfrm>
            <a:off x="318618" y="2224"/>
            <a:ext cx="3290400" cy="685072"/>
          </a:xfrm>
          <a:prstGeom prst="rect">
            <a:avLst/>
          </a:prstGeom>
        </p:spPr>
      </p:pic>
    </p:spTree>
    <p:extLst>
      <p:ext uri="{BB962C8B-B14F-4D97-AF65-F5344CB8AC3E}">
        <p14:creationId xmlns:p14="http://schemas.microsoft.com/office/powerpoint/2010/main" val="19083602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2366D-8698-B649-944B-CF1A6B166FF8}" type="datetimeFigureOut">
              <a:t>06/11/2023</a:t>
            </a:fld>
            <a:endParaRPr lang="en-V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9440A-2DED-3643-ADED-9B5C83E7D828}" type="slidenum">
              <a:t>‹#›</a:t>
            </a:fld>
            <a:endParaRPr lang="en-VN"/>
          </a:p>
        </p:txBody>
      </p:sp>
    </p:spTree>
    <p:extLst>
      <p:ext uri="{BB962C8B-B14F-4D97-AF65-F5344CB8AC3E}">
        <p14:creationId xmlns:p14="http://schemas.microsoft.com/office/powerpoint/2010/main" val="36227279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1005840"/>
            <a:ext cx="10835640" cy="768096"/>
          </a:xfrm>
          <a:prstGeom prst="rect">
            <a:avLst/>
          </a:prstGeom>
          <a:noFill/>
        </p:spPr>
        <p:txBody>
          <a:bodyPr wrap="square" lIns="0" rIns="0" tIns="0" bIns="36576">
            <a:spAutoFit/>
          </a:bodyPr>
          <a:lstStyle/>
          <a:p>
            <a:pPr algn="ctr">
              <a:lnSpc>
                <a:spcPct val="112000"/>
              </a:lnSpc>
              <a:spcBef>
                <a:spcPts val="0"/>
              </a:spcBef>
              <a:spcAft>
                <a:spcPts val="600"/>
              </a:spcAft>
            </a:pPr>
            <a:r>
              <a:rPr sz="3700" b="1">
                <a:solidFill>
                  <a:srgbClr val="EA1D25"/>
                </a:solidFill>
                <a:latin typeface="Arial"/>
              </a:rPr>
              <a:t>ỨNG DỤNG ARANGODB</a:t>
            </a:r>
          </a:p>
        </p:txBody>
      </p:sp>
      <p:sp>
        <p:nvSpPr>
          <p:cNvPr id="3" name="TextBox 2"/>
          <p:cNvSpPr txBox="1"/>
          <p:nvPr/>
        </p:nvSpPr>
        <p:spPr>
          <a:xfrm>
            <a:off x="822960" y="1764792"/>
            <a:ext cx="10561320" cy="1143000"/>
          </a:xfrm>
          <a:prstGeom prst="rect">
            <a:avLst/>
          </a:prstGeom>
          <a:noFill/>
        </p:spPr>
        <p:txBody>
          <a:bodyPr wrap="square" lIns="0" rIns="0" tIns="0" bIns="36576">
            <a:spAutoFit/>
          </a:bodyPr>
          <a:lstStyle/>
          <a:p>
            <a:pPr algn="ctr">
              <a:lnSpc>
                <a:spcPct val="112000"/>
              </a:lnSpc>
              <a:spcBef>
                <a:spcPts val="0"/>
              </a:spcBef>
              <a:spcAft>
                <a:spcPts val="600"/>
              </a:spcAft>
            </a:pPr>
            <a:r>
              <a:rPr sz="3200" b="1">
                <a:solidFill>
                  <a:srgbClr val="005BAA"/>
                </a:solidFill>
                <a:latin typeface="Arial"/>
              </a:rPr>
              <a:t>GỢI Ý VIỆC LÀM</a:t>
            </a:r>
          </a:p>
          <a:p>
            <a:pPr algn="ctr">
              <a:lnSpc>
                <a:spcPct val="112000"/>
              </a:lnSpc>
              <a:spcBef>
                <a:spcPts val="0"/>
              </a:spcBef>
              <a:spcAft>
                <a:spcPts val="600"/>
              </a:spcAft>
            </a:pPr>
            <a:r>
              <a:rPr sz="3200" b="1">
                <a:solidFill>
                  <a:srgbClr val="005BAA"/>
                </a:solidFill>
                <a:latin typeface="Arial"/>
              </a:rPr>
              <a:t>VÀ ĐƯỜNG KẾT NỐI GIỚI THIỆU</a:t>
            </a:r>
          </a:p>
        </p:txBody>
      </p:sp>
      <p:sp>
        <p:nvSpPr>
          <p:cNvPr id="4" name="TextBox 3"/>
          <p:cNvSpPr txBox="1"/>
          <p:nvPr/>
        </p:nvSpPr>
        <p:spPr>
          <a:xfrm>
            <a:off x="1097280" y="3035808"/>
            <a:ext cx="10012680" cy="438912"/>
          </a:xfrm>
          <a:prstGeom prst="rect">
            <a:avLst/>
          </a:prstGeom>
          <a:noFill/>
        </p:spPr>
        <p:txBody>
          <a:bodyPr wrap="square" lIns="0" rIns="0" tIns="0" bIns="36576">
            <a:spAutoFit/>
          </a:bodyPr>
          <a:lstStyle/>
          <a:p>
            <a:pPr algn="ctr">
              <a:lnSpc>
                <a:spcPct val="112000"/>
              </a:lnSpc>
              <a:spcBef>
                <a:spcPts val="0"/>
              </a:spcBef>
              <a:spcAft>
                <a:spcPts val="600"/>
              </a:spcAft>
            </a:pPr>
            <a:r>
              <a:rPr sz="2300" b="0">
                <a:solidFill>
                  <a:srgbClr val="123653"/>
                </a:solidFill>
                <a:latin typeface="Arial"/>
              </a:rPr>
              <a:t>Job Referral Network  •  Khoa Công nghệ Thông tin</a:t>
            </a:r>
          </a:p>
        </p:txBody>
      </p:sp>
      <p:sp>
        <p:nvSpPr>
          <p:cNvPr id="5" name="TextBox 4"/>
          <p:cNvSpPr txBox="1"/>
          <p:nvPr/>
        </p:nvSpPr>
        <p:spPr>
          <a:xfrm>
            <a:off x="1097280" y="3703320"/>
            <a:ext cx="10012680" cy="548640"/>
          </a:xfrm>
          <a:prstGeom prst="rect">
            <a:avLst/>
          </a:prstGeom>
          <a:noFill/>
        </p:spPr>
        <p:txBody>
          <a:bodyPr wrap="square" lIns="0" rIns="0" tIns="0" bIns="36576">
            <a:spAutoFit/>
          </a:bodyPr>
          <a:lstStyle/>
          <a:p>
            <a:pPr algn="ctr">
              <a:lnSpc>
                <a:spcPct val="112000"/>
              </a:lnSpc>
              <a:spcBef>
                <a:spcPts val="0"/>
              </a:spcBef>
              <a:spcAft>
                <a:spcPts val="600"/>
              </a:spcAft>
            </a:pPr>
            <a:r>
              <a:rPr sz="2000" b="0">
                <a:solidFill>
                  <a:srgbClr val="526575"/>
                </a:solidFill>
                <a:latin typeface="Arial"/>
              </a:rPr>
              <a:t>Nhóm / MSSV / Lớp / GVHD: [Cần bổ sung]</a:t>
            </a:r>
          </a:p>
        </p:txBody>
      </p:sp>
      <p:sp>
        <p:nvSpPr>
          <p:cNvPr id="6" name="TextBox 5"/>
          <p:cNvSpPr txBox="1"/>
          <p:nvPr/>
        </p:nvSpPr>
        <p:spPr>
          <a:xfrm>
            <a:off x="1097280" y="4325112"/>
            <a:ext cx="10012680" cy="329184"/>
          </a:xfrm>
          <a:prstGeom prst="rect">
            <a:avLst/>
          </a:prstGeom>
          <a:noFill/>
        </p:spPr>
        <p:txBody>
          <a:bodyPr wrap="square" lIns="0" rIns="0" tIns="0" bIns="36576">
            <a:spAutoFit/>
          </a:bodyPr>
          <a:lstStyle/>
          <a:p>
            <a:pPr algn="ctr">
              <a:lnSpc>
                <a:spcPct val="112000"/>
              </a:lnSpc>
              <a:spcBef>
                <a:spcPts val="0"/>
              </a:spcBef>
              <a:spcAft>
                <a:spcPts val="600"/>
              </a:spcAft>
            </a:pPr>
            <a:r>
              <a:rPr sz="1800" b="0">
                <a:solidFill>
                  <a:srgbClr val="526575"/>
                </a:solidFill>
                <a:latin typeface="Arial"/>
              </a:rPr>
              <a:t>TP. Hồ Chí Minh, tháng 10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BÀI TOÁN VÀ MỤC TIÊU</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02 / 20</a:t>
            </a:r>
          </a:p>
        </p:txBody>
      </p:sp>
      <p:sp>
        <p:nvSpPr>
          <p:cNvPr id="4" name="Rounded Rectangle 3"/>
          <p:cNvSpPr/>
          <p:nvPr/>
        </p:nvSpPr>
        <p:spPr>
          <a:xfrm>
            <a:off x="548640"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5" name="TextBox 4"/>
          <p:cNvSpPr txBox="1"/>
          <p:nvPr/>
        </p:nvSpPr>
        <p:spPr>
          <a:xfrm>
            <a:off x="731520"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Việc nào phù hợp?</a:t>
            </a:r>
          </a:p>
        </p:txBody>
      </p:sp>
      <p:sp>
        <p:nvSpPr>
          <p:cNvPr id="6" name="TextBox 5"/>
          <p:cNvSpPr txBox="1"/>
          <p:nvPr/>
        </p:nvSpPr>
        <p:spPr>
          <a:xfrm>
            <a:off x="731520"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Đối chiếu kỹ năng,</a:t>
            </a:r>
          </a:p>
          <a:p>
            <a:pPr algn="l">
              <a:lnSpc>
                <a:spcPct val="112000"/>
              </a:lnSpc>
              <a:spcBef>
                <a:spcPts val="0"/>
              </a:spcBef>
              <a:spcAft>
                <a:spcPts val="600"/>
              </a:spcAft>
            </a:pPr>
            <a:r>
              <a:rPr sz="2300" b="0">
                <a:solidFill>
                  <a:srgbClr val="123653"/>
                </a:solidFill>
                <a:latin typeface="Arial"/>
              </a:rPr>
              <a:t>kinh nghiệm và mong muốn.</a:t>
            </a:r>
          </a:p>
        </p:txBody>
      </p:sp>
      <p:sp>
        <p:nvSpPr>
          <p:cNvPr id="7" name="Rounded Rectangle 6"/>
          <p:cNvSpPr/>
          <p:nvPr/>
        </p:nvSpPr>
        <p:spPr>
          <a:xfrm>
            <a:off x="4315968"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8" name="TextBox 7"/>
          <p:cNvSpPr txBox="1"/>
          <p:nvPr/>
        </p:nvSpPr>
        <p:spPr>
          <a:xfrm>
            <a:off x="4498848"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Có thể nhờ ai?</a:t>
            </a:r>
          </a:p>
        </p:txBody>
      </p:sp>
      <p:sp>
        <p:nvSpPr>
          <p:cNvPr id="9" name="TextBox 8"/>
          <p:cNvSpPr txBox="1"/>
          <p:nvPr/>
        </p:nvSpPr>
        <p:spPr>
          <a:xfrm>
            <a:off x="4498848"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Tìm người giới thiệu</a:t>
            </a:r>
          </a:p>
          <a:p>
            <a:pPr algn="l">
              <a:lnSpc>
                <a:spcPct val="112000"/>
              </a:lnSpc>
              <a:spcBef>
                <a:spcPts val="0"/>
              </a:spcBef>
              <a:spcAft>
                <a:spcPts val="600"/>
              </a:spcAft>
            </a:pPr>
            <a:r>
              <a:rPr sz="2300" b="0">
                <a:solidFill>
                  <a:srgbClr val="123653"/>
                </a:solidFill>
                <a:latin typeface="Arial"/>
              </a:rPr>
              <a:t>qua các kết nối hợp lệ.</a:t>
            </a:r>
          </a:p>
        </p:txBody>
      </p:sp>
      <p:sp>
        <p:nvSpPr>
          <p:cNvPr id="10" name="Rounded Rectangle 9"/>
          <p:cNvSpPr/>
          <p:nvPr/>
        </p:nvSpPr>
        <p:spPr>
          <a:xfrm>
            <a:off x="8083296"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11" name="TextBox 10"/>
          <p:cNvSpPr txBox="1"/>
          <p:nvPr/>
        </p:nvSpPr>
        <p:spPr>
          <a:xfrm>
            <a:off x="8266175"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Vì sao được gợi ý?</a:t>
            </a:r>
          </a:p>
        </p:txBody>
      </p:sp>
      <p:sp>
        <p:nvSpPr>
          <p:cNvPr id="12" name="TextBox 11"/>
          <p:cNvSpPr txBox="1"/>
          <p:nvPr/>
        </p:nvSpPr>
        <p:spPr>
          <a:xfrm>
            <a:off x="8266175"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Hiển thị điểm thành phần</a:t>
            </a:r>
          </a:p>
          <a:p>
            <a:pPr algn="l">
              <a:lnSpc>
                <a:spcPct val="112000"/>
              </a:lnSpc>
              <a:spcBef>
                <a:spcPts val="0"/>
              </a:spcBef>
              <a:spcAft>
                <a:spcPts val="600"/>
              </a:spcAft>
            </a:pPr>
            <a:r>
              <a:rPr sz="2300" b="0">
                <a:solidFill>
                  <a:srgbClr val="123653"/>
                </a:solidFill>
                <a:latin typeface="Arial"/>
              </a:rPr>
              <a:t>và đường đi có giải thích.</a:t>
            </a:r>
          </a:p>
        </p:txBody>
      </p:sp>
      <p:sp>
        <p:nvSpPr>
          <p:cNvPr id="13" name="TextBox 12"/>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Mục tiêu: ứng dụng chạy thật với giao diện → API → ArangoDB.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ARANGODB LÀ GÌ?</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03 / 20</a:t>
            </a:r>
          </a:p>
        </p:txBody>
      </p:sp>
      <p:sp>
        <p:nvSpPr>
          <p:cNvPr id="4" name="Rounded Rectangle 3"/>
          <p:cNvSpPr/>
          <p:nvPr/>
        </p:nvSpPr>
        <p:spPr>
          <a:xfrm>
            <a:off x="548640"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5" name="TextBox 4"/>
          <p:cNvSpPr txBox="1"/>
          <p:nvPr/>
        </p:nvSpPr>
        <p:spPr>
          <a:xfrm>
            <a:off x="731520"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Document</a:t>
            </a:r>
          </a:p>
        </p:txBody>
      </p:sp>
      <p:sp>
        <p:nvSpPr>
          <p:cNvPr id="6" name="TextBox 5"/>
          <p:cNvSpPr txBox="1"/>
          <p:nvPr/>
        </p:nvSpPr>
        <p:spPr>
          <a:xfrm>
            <a:off x="731520"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Lưu người dùng, công ty,</a:t>
            </a:r>
          </a:p>
          <a:p>
            <a:pPr algn="l">
              <a:lnSpc>
                <a:spcPct val="112000"/>
              </a:lnSpc>
              <a:spcBef>
                <a:spcPts val="0"/>
              </a:spcBef>
              <a:spcAft>
                <a:spcPts val="600"/>
              </a:spcAft>
            </a:pPr>
            <a:r>
              <a:rPr sz="2300" b="0">
                <a:solidFill>
                  <a:srgbClr val="123653"/>
                </a:solidFill>
                <a:latin typeface="Arial"/>
              </a:rPr>
              <a:t>việc làm và kỹ năng.</a:t>
            </a:r>
          </a:p>
        </p:txBody>
      </p:sp>
      <p:sp>
        <p:nvSpPr>
          <p:cNvPr id="7" name="Rounded Rectangle 6"/>
          <p:cNvSpPr/>
          <p:nvPr/>
        </p:nvSpPr>
        <p:spPr>
          <a:xfrm>
            <a:off x="4315968"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8" name="TextBox 7"/>
          <p:cNvSpPr txBox="1"/>
          <p:nvPr/>
        </p:nvSpPr>
        <p:spPr>
          <a:xfrm>
            <a:off x="4498848"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Graph</a:t>
            </a:r>
          </a:p>
        </p:txBody>
      </p:sp>
      <p:sp>
        <p:nvSpPr>
          <p:cNvPr id="9" name="TextBox 8"/>
          <p:cNvSpPr txBox="1"/>
          <p:nvPr/>
        </p:nvSpPr>
        <p:spPr>
          <a:xfrm>
            <a:off x="4498848"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Lưu quan hệ bằng edge;</a:t>
            </a:r>
          </a:p>
          <a:p>
            <a:pPr algn="l">
              <a:lnSpc>
                <a:spcPct val="112000"/>
              </a:lnSpc>
              <a:spcBef>
                <a:spcPts val="0"/>
              </a:spcBef>
              <a:spcAft>
                <a:spcPts val="600"/>
              </a:spcAft>
            </a:pPr>
            <a:r>
              <a:rPr sz="2300" b="0">
                <a:solidFill>
                  <a:srgbClr val="123653"/>
                </a:solidFill>
                <a:latin typeface="Arial"/>
              </a:rPr>
              <a:t>khai báo named graph.</a:t>
            </a:r>
          </a:p>
        </p:txBody>
      </p:sp>
      <p:sp>
        <p:nvSpPr>
          <p:cNvPr id="10" name="Rounded Rectangle 9"/>
          <p:cNvSpPr/>
          <p:nvPr/>
        </p:nvSpPr>
        <p:spPr>
          <a:xfrm>
            <a:off x="8083296"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11" name="TextBox 10"/>
          <p:cNvSpPr txBox="1"/>
          <p:nvPr/>
        </p:nvSpPr>
        <p:spPr>
          <a:xfrm>
            <a:off x="8266175"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AQL</a:t>
            </a:r>
          </a:p>
        </p:txBody>
      </p:sp>
      <p:sp>
        <p:nvSpPr>
          <p:cNvPr id="12" name="TextBox 11"/>
          <p:cNvSpPr txBox="1"/>
          <p:nvPr/>
        </p:nvSpPr>
        <p:spPr>
          <a:xfrm>
            <a:off x="8266175"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Lọc dữ liệu, tính điểm</a:t>
            </a:r>
          </a:p>
          <a:p>
            <a:pPr algn="l">
              <a:lnSpc>
                <a:spcPct val="112000"/>
              </a:lnSpc>
              <a:spcBef>
                <a:spcPts val="0"/>
              </a:spcBef>
              <a:spcAft>
                <a:spcPts val="600"/>
              </a:spcAft>
            </a:pPr>
            <a:r>
              <a:rPr sz="2300" b="0">
                <a:solidFill>
                  <a:srgbClr val="123653"/>
                </a:solidFill>
                <a:latin typeface="Arial"/>
              </a:rPr>
              <a:t>và duyệt mạng lưới.</a:t>
            </a:r>
          </a:p>
        </p:txBody>
      </p:sp>
      <p:sp>
        <p:nvSpPr>
          <p:cNvPr id="13" name="TextBox 12"/>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Phiên bản của dự án: ArangoDB 3.12.12, single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VÌ SAO CHỌN ARANGODB?</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04 / 20</a:t>
            </a:r>
          </a:p>
        </p:txBody>
      </p:sp>
      <p:sp>
        <p:nvSpPr>
          <p:cNvPr id="4" name="TextBox 3"/>
          <p:cNvSpPr txBox="1"/>
          <p:nvPr/>
        </p:nvSpPr>
        <p:spPr>
          <a:xfrm>
            <a:off x="640080" y="1920240"/>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a:t>
            </a:r>
          </a:p>
        </p:txBody>
      </p:sp>
      <p:sp>
        <p:nvSpPr>
          <p:cNvPr id="5" name="TextBox 4"/>
          <p:cNvSpPr txBox="1"/>
          <p:nvPr/>
        </p:nvSpPr>
        <p:spPr>
          <a:xfrm>
            <a:off x="1005840" y="1920240"/>
            <a:ext cx="10424160" cy="868680"/>
          </a:xfrm>
          <a:prstGeom prst="rect">
            <a:avLst/>
          </a:prstGeom>
          <a:noFill/>
        </p:spPr>
        <p:txBody>
          <a:bodyPr wrap="square" lIns="0" rIns="0" tIns="0" bIns="36576">
            <a:spAutoFit/>
          </a:bodyPr>
          <a:lstStyle/>
          <a:p>
            <a:pPr algn="l">
              <a:lnSpc>
                <a:spcPct val="112000"/>
              </a:lnSpc>
              <a:spcBef>
                <a:spcPts val="0"/>
              </a:spcBef>
              <a:spcAft>
                <a:spcPts val="600"/>
              </a:spcAft>
            </a:pPr>
            <a:r>
              <a:rPr sz="2700" b="0">
                <a:solidFill>
                  <a:srgbClr val="123653"/>
                </a:solidFill>
                <a:latin typeface="Arial"/>
              </a:rPr>
              <a:t>Document và quan hệ nằm trong cùng cơ sở dữ liệu.</a:t>
            </a:r>
          </a:p>
        </p:txBody>
      </p:sp>
      <p:sp>
        <p:nvSpPr>
          <p:cNvPr id="6" name="TextBox 5"/>
          <p:cNvSpPr txBox="1"/>
          <p:nvPr/>
        </p:nvSpPr>
        <p:spPr>
          <a:xfrm>
            <a:off x="640080" y="2880360"/>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a:t>
            </a:r>
          </a:p>
        </p:txBody>
      </p:sp>
      <p:sp>
        <p:nvSpPr>
          <p:cNvPr id="7" name="TextBox 6"/>
          <p:cNvSpPr txBox="1"/>
          <p:nvPr/>
        </p:nvSpPr>
        <p:spPr>
          <a:xfrm>
            <a:off x="1005840" y="2880360"/>
            <a:ext cx="10424160" cy="868680"/>
          </a:xfrm>
          <a:prstGeom prst="rect">
            <a:avLst/>
          </a:prstGeom>
          <a:noFill/>
        </p:spPr>
        <p:txBody>
          <a:bodyPr wrap="square" lIns="0" rIns="0" tIns="0" bIns="36576">
            <a:spAutoFit/>
          </a:bodyPr>
          <a:lstStyle/>
          <a:p>
            <a:pPr algn="l">
              <a:lnSpc>
                <a:spcPct val="112000"/>
              </a:lnSpc>
              <a:spcBef>
                <a:spcPts val="0"/>
              </a:spcBef>
              <a:spcAft>
                <a:spcPts val="600"/>
              </a:spcAft>
            </a:pPr>
            <a:r>
              <a:rPr sz="2700" b="0">
                <a:solidFill>
                  <a:srgbClr val="123653"/>
                </a:solidFill>
                <a:latin typeface="Arial"/>
              </a:rPr>
              <a:t>AQL vừa đối chiếu hồ sơ vừa tìm đường nhiều bước.</a:t>
            </a:r>
          </a:p>
        </p:txBody>
      </p:sp>
      <p:sp>
        <p:nvSpPr>
          <p:cNvPr id="8" name="TextBox 7"/>
          <p:cNvSpPr txBox="1"/>
          <p:nvPr/>
        </p:nvSpPr>
        <p:spPr>
          <a:xfrm>
            <a:off x="640080" y="3840480"/>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a:t>
            </a:r>
          </a:p>
        </p:txBody>
      </p:sp>
      <p:sp>
        <p:nvSpPr>
          <p:cNvPr id="9" name="TextBox 8"/>
          <p:cNvSpPr txBox="1"/>
          <p:nvPr/>
        </p:nvSpPr>
        <p:spPr>
          <a:xfrm>
            <a:off x="1005840" y="3840480"/>
            <a:ext cx="10424160" cy="868680"/>
          </a:xfrm>
          <a:prstGeom prst="rect">
            <a:avLst/>
          </a:prstGeom>
          <a:noFill/>
        </p:spPr>
        <p:txBody>
          <a:bodyPr wrap="square" lIns="0" rIns="0" tIns="0" bIns="36576">
            <a:spAutoFit/>
          </a:bodyPr>
          <a:lstStyle/>
          <a:p>
            <a:pPr algn="l">
              <a:lnSpc>
                <a:spcPct val="112000"/>
              </a:lnSpc>
              <a:spcBef>
                <a:spcPts val="0"/>
              </a:spcBef>
              <a:spcAft>
                <a:spcPts val="600"/>
              </a:spcAft>
            </a:pPr>
            <a:r>
              <a:rPr sz="2700" b="0">
                <a:solidFill>
                  <a:srgbClr val="123653"/>
                </a:solidFill>
                <a:latin typeface="Arial"/>
              </a:rPr>
              <a:t>Index và transaction hỗ trợ truy vấn, ghi nhất quán.</a:t>
            </a:r>
          </a:p>
        </p:txBody>
      </p:sp>
      <p:sp>
        <p:nvSpPr>
          <p:cNvPr id="10" name="TextBox 9"/>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Chưa có benchmark đối chứng để kết luận nhanh hơn các DBMS khác.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KIẾN TRÚC HỆ THỐNG</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05 / 20</a:t>
            </a:r>
          </a:p>
        </p:txBody>
      </p:sp>
      <p:sp>
        <p:nvSpPr>
          <p:cNvPr id="4" name="Rounded Rectangle 3"/>
          <p:cNvSpPr/>
          <p:nvPr/>
        </p:nvSpPr>
        <p:spPr>
          <a:xfrm>
            <a:off x="548640" y="2651760"/>
            <a:ext cx="2194560" cy="12801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React</a:t>
            </a:r>
          </a:p>
          <a:p>
            <a:pPr algn="ctr">
              <a:lnSpc>
                <a:spcPct val="112000"/>
              </a:lnSpc>
              <a:spcBef>
                <a:spcPts val="0"/>
              </a:spcBef>
              <a:spcAft>
                <a:spcPts val="600"/>
              </a:spcAft>
            </a:pPr>
            <a:r>
              <a:rPr sz="2300" b="1">
                <a:solidFill>
                  <a:srgbClr val="005BAA"/>
                </a:solidFill>
                <a:latin typeface="Arial"/>
              </a:rPr>
              <a:t>Giao diện</a:t>
            </a:r>
          </a:p>
        </p:txBody>
      </p:sp>
      <p:sp>
        <p:nvSpPr>
          <p:cNvPr id="5" name="Rounded Rectangle 4"/>
          <p:cNvSpPr/>
          <p:nvPr/>
        </p:nvSpPr>
        <p:spPr>
          <a:xfrm>
            <a:off x="3520440" y="2651760"/>
            <a:ext cx="2194560" cy="12801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Nginx</a:t>
            </a:r>
          </a:p>
          <a:p>
            <a:pPr algn="ctr">
              <a:lnSpc>
                <a:spcPct val="112000"/>
              </a:lnSpc>
              <a:spcBef>
                <a:spcPts val="0"/>
              </a:spcBef>
              <a:spcAft>
                <a:spcPts val="600"/>
              </a:spcAft>
            </a:pPr>
            <a:r>
              <a:rPr sz="2300" b="1">
                <a:solidFill>
                  <a:srgbClr val="005BAA"/>
                </a:solidFill>
                <a:latin typeface="Arial"/>
              </a:rPr>
              <a:t>Proxy</a:t>
            </a:r>
          </a:p>
        </p:txBody>
      </p:sp>
      <p:sp>
        <p:nvSpPr>
          <p:cNvPr id="6" name="Rounded Rectangle 5"/>
          <p:cNvSpPr/>
          <p:nvPr/>
        </p:nvSpPr>
        <p:spPr>
          <a:xfrm>
            <a:off x="6492240" y="2651760"/>
            <a:ext cx="2194560" cy="12801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FastAPI</a:t>
            </a:r>
          </a:p>
          <a:p>
            <a:pPr algn="ctr">
              <a:lnSpc>
                <a:spcPct val="112000"/>
              </a:lnSpc>
              <a:spcBef>
                <a:spcPts val="0"/>
              </a:spcBef>
              <a:spcAft>
                <a:spcPts val="600"/>
              </a:spcAft>
            </a:pPr>
            <a:r>
              <a:rPr sz="2300" b="1">
                <a:solidFill>
                  <a:srgbClr val="005BAA"/>
                </a:solidFill>
                <a:latin typeface="Arial"/>
              </a:rPr>
              <a:t>Nghiệp vụ</a:t>
            </a:r>
          </a:p>
        </p:txBody>
      </p:sp>
      <p:sp>
        <p:nvSpPr>
          <p:cNvPr id="7" name="Rounded Rectangle 6"/>
          <p:cNvSpPr/>
          <p:nvPr/>
        </p:nvSpPr>
        <p:spPr>
          <a:xfrm>
            <a:off x="9464040" y="2651760"/>
            <a:ext cx="2194560" cy="12801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ArangoDB</a:t>
            </a:r>
          </a:p>
          <a:p>
            <a:pPr algn="ctr">
              <a:lnSpc>
                <a:spcPct val="112000"/>
              </a:lnSpc>
              <a:spcBef>
                <a:spcPts val="0"/>
              </a:spcBef>
              <a:spcAft>
                <a:spcPts val="600"/>
              </a:spcAft>
            </a:pPr>
            <a:r>
              <a:rPr sz="2300" b="1">
                <a:solidFill>
                  <a:srgbClr val="005BAA"/>
                </a:solidFill>
                <a:latin typeface="Arial"/>
              </a:rPr>
              <a:t>AQL / Graph</a:t>
            </a:r>
          </a:p>
        </p:txBody>
      </p:sp>
      <p:cxnSp>
        <p:nvCxnSpPr>
          <p:cNvPr id="8" name="Connector 7"/>
          <p:cNvCxnSpPr/>
          <p:nvPr/>
        </p:nvCxnSpPr>
        <p:spPr>
          <a:xfrm>
            <a:off x="2743200" y="3291840"/>
            <a:ext cx="74980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715000" y="3291840"/>
            <a:ext cx="74980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686800" y="3291840"/>
            <a:ext cx="74980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 y="4645152"/>
            <a:ext cx="10789920" cy="731520"/>
          </a:xfrm>
          <a:prstGeom prst="rect">
            <a:avLst/>
          </a:prstGeom>
          <a:noFill/>
        </p:spPr>
        <p:txBody>
          <a:bodyPr wrap="square" lIns="0" rIns="0" tIns="0" bIns="36576">
            <a:spAutoFit/>
          </a:bodyPr>
          <a:lstStyle/>
          <a:p>
            <a:pPr algn="ctr">
              <a:lnSpc>
                <a:spcPct val="112000"/>
              </a:lnSpc>
              <a:spcBef>
                <a:spcPts val="0"/>
              </a:spcBef>
              <a:spcAft>
                <a:spcPts val="600"/>
              </a:spcAft>
            </a:pPr>
            <a:r>
              <a:rPr sz="2400" b="0">
                <a:solidFill>
                  <a:srgbClr val="123653"/>
                </a:solidFill>
                <a:latin typeface="Arial"/>
              </a:rPr>
              <a:t>FastAPI kiểm tra quyền  •  ArangoDB thực thi truy vấn và transaction</a:t>
            </a:r>
          </a:p>
        </p:txBody>
      </p:sp>
      <p:sp>
        <p:nvSpPr>
          <p:cNvPr id="12" name="TextBox 11"/>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Triển khai local bằng Docker Compose; backend dùng DB runtime user riêng.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MÔ HÌNH GRAPH CỐT LÕI</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06 / 20</a:t>
            </a:r>
          </a:p>
        </p:txBody>
      </p:sp>
      <p:sp>
        <p:nvSpPr>
          <p:cNvPr id="4" name="Rounded Rectangle 3"/>
          <p:cNvSpPr/>
          <p:nvPr/>
        </p:nvSpPr>
        <p:spPr>
          <a:xfrm>
            <a:off x="594360" y="2057400"/>
            <a:ext cx="2468880" cy="9144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users</a:t>
            </a:r>
          </a:p>
          <a:p>
            <a:pPr algn="ctr">
              <a:lnSpc>
                <a:spcPct val="112000"/>
              </a:lnSpc>
              <a:spcBef>
                <a:spcPts val="0"/>
              </a:spcBef>
              <a:spcAft>
                <a:spcPts val="600"/>
              </a:spcAft>
            </a:pPr>
            <a:r>
              <a:rPr sz="2300" b="1">
                <a:solidFill>
                  <a:srgbClr val="005BAA"/>
                </a:solidFill>
                <a:latin typeface="Arial"/>
              </a:rPr>
              <a:t>Ứng viên</a:t>
            </a:r>
          </a:p>
        </p:txBody>
      </p:sp>
      <p:sp>
        <p:nvSpPr>
          <p:cNvPr id="5" name="Rounded Rectangle 4"/>
          <p:cNvSpPr/>
          <p:nvPr/>
        </p:nvSpPr>
        <p:spPr>
          <a:xfrm>
            <a:off x="7086600" y="2057400"/>
            <a:ext cx="2651760" cy="9144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users</a:t>
            </a:r>
          </a:p>
          <a:p>
            <a:pPr algn="ctr">
              <a:lnSpc>
                <a:spcPct val="112000"/>
              </a:lnSpc>
              <a:spcBef>
                <a:spcPts val="0"/>
              </a:spcBef>
              <a:spcAft>
                <a:spcPts val="600"/>
              </a:spcAft>
            </a:pPr>
            <a:r>
              <a:rPr sz="2300" b="1">
                <a:solidFill>
                  <a:srgbClr val="005BAA"/>
                </a:solidFill>
                <a:latin typeface="Arial"/>
              </a:rPr>
              <a:t>Người giới thiệu</a:t>
            </a:r>
          </a:p>
        </p:txBody>
      </p:sp>
      <p:sp>
        <p:nvSpPr>
          <p:cNvPr id="6" name="Rounded Rectangle 5"/>
          <p:cNvSpPr/>
          <p:nvPr/>
        </p:nvSpPr>
        <p:spPr>
          <a:xfrm>
            <a:off x="594360" y="4206240"/>
            <a:ext cx="2468880" cy="9144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skills</a:t>
            </a:r>
          </a:p>
          <a:p>
            <a:pPr algn="ctr">
              <a:lnSpc>
                <a:spcPct val="112000"/>
              </a:lnSpc>
              <a:spcBef>
                <a:spcPts val="0"/>
              </a:spcBef>
              <a:spcAft>
                <a:spcPts val="600"/>
              </a:spcAft>
            </a:pPr>
            <a:r>
              <a:rPr sz="2300" b="1">
                <a:solidFill>
                  <a:srgbClr val="005BAA"/>
                </a:solidFill>
                <a:latin typeface="Arial"/>
              </a:rPr>
              <a:t>Kỹ năng</a:t>
            </a:r>
          </a:p>
        </p:txBody>
      </p:sp>
      <p:sp>
        <p:nvSpPr>
          <p:cNvPr id="7" name="Rounded Rectangle 6"/>
          <p:cNvSpPr/>
          <p:nvPr/>
        </p:nvSpPr>
        <p:spPr>
          <a:xfrm>
            <a:off x="4754880" y="4206240"/>
            <a:ext cx="2057400" cy="9144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jobs</a:t>
            </a:r>
          </a:p>
          <a:p>
            <a:pPr algn="ctr">
              <a:lnSpc>
                <a:spcPct val="112000"/>
              </a:lnSpc>
              <a:spcBef>
                <a:spcPts val="0"/>
              </a:spcBef>
              <a:spcAft>
                <a:spcPts val="600"/>
              </a:spcAft>
            </a:pPr>
            <a:r>
              <a:rPr sz="2300" b="1">
                <a:solidFill>
                  <a:srgbClr val="005BAA"/>
                </a:solidFill>
                <a:latin typeface="Arial"/>
              </a:rPr>
              <a:t>Việc làm</a:t>
            </a:r>
          </a:p>
        </p:txBody>
      </p:sp>
      <p:sp>
        <p:nvSpPr>
          <p:cNvPr id="8" name="Rounded Rectangle 7"/>
          <p:cNvSpPr/>
          <p:nvPr/>
        </p:nvSpPr>
        <p:spPr>
          <a:xfrm>
            <a:off x="8732520" y="4206240"/>
            <a:ext cx="2651760" cy="9144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companies</a:t>
            </a:r>
          </a:p>
          <a:p>
            <a:pPr algn="ctr">
              <a:lnSpc>
                <a:spcPct val="112000"/>
              </a:lnSpc>
              <a:spcBef>
                <a:spcPts val="0"/>
              </a:spcBef>
              <a:spcAft>
                <a:spcPts val="600"/>
              </a:spcAft>
            </a:pPr>
            <a:r>
              <a:rPr sz="2300" b="1">
                <a:solidFill>
                  <a:srgbClr val="005BAA"/>
                </a:solidFill>
                <a:latin typeface="Arial"/>
              </a:rPr>
              <a:t>Doanh nghiệp</a:t>
            </a:r>
          </a:p>
        </p:txBody>
      </p:sp>
      <p:cxnSp>
        <p:nvCxnSpPr>
          <p:cNvPr id="9" name="Connector 8"/>
          <p:cNvCxnSpPr/>
          <p:nvPr/>
        </p:nvCxnSpPr>
        <p:spPr>
          <a:xfrm>
            <a:off x="3063240" y="2514600"/>
            <a:ext cx="4023360"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57600" y="1965960"/>
            <a:ext cx="2926080" cy="411480"/>
          </a:xfrm>
          <a:prstGeom prst="rect">
            <a:avLst/>
          </a:prstGeom>
          <a:noFill/>
        </p:spPr>
        <p:txBody>
          <a:bodyPr wrap="square" lIns="0" rIns="0" tIns="0" bIns="36576">
            <a:spAutoFit/>
          </a:bodyPr>
          <a:lstStyle/>
          <a:p>
            <a:pPr algn="ctr">
              <a:lnSpc>
                <a:spcPct val="112000"/>
              </a:lnSpc>
              <a:spcBef>
                <a:spcPts val="0"/>
              </a:spcBef>
              <a:spcAft>
                <a:spcPts val="600"/>
              </a:spcAft>
            </a:pPr>
            <a:r>
              <a:rPr sz="1800" b="0">
                <a:solidFill>
                  <a:srgbClr val="526575"/>
                </a:solidFill>
                <a:latin typeface="Arial"/>
              </a:rPr>
              <a:t>connections · ANY</a:t>
            </a:r>
          </a:p>
        </p:txBody>
      </p:sp>
      <p:cxnSp>
        <p:nvCxnSpPr>
          <p:cNvPr id="11" name="Connector 10"/>
          <p:cNvCxnSpPr/>
          <p:nvPr/>
        </p:nvCxnSpPr>
        <p:spPr>
          <a:xfrm>
            <a:off x="1828800" y="2971800"/>
            <a:ext cx="0" cy="123444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965960" y="3401568"/>
            <a:ext cx="1645920" cy="411480"/>
          </a:xfrm>
          <a:prstGeom prst="rect">
            <a:avLst/>
          </a:prstGeom>
          <a:noFill/>
        </p:spPr>
        <p:txBody>
          <a:bodyPr wrap="square" lIns="0" rIns="0" tIns="0" bIns="36576">
            <a:spAutoFit/>
          </a:bodyPr>
          <a:lstStyle/>
          <a:p>
            <a:pPr algn="ctr">
              <a:lnSpc>
                <a:spcPct val="112000"/>
              </a:lnSpc>
              <a:spcBef>
                <a:spcPts val="0"/>
              </a:spcBef>
              <a:spcAft>
                <a:spcPts val="600"/>
              </a:spcAft>
            </a:pPr>
            <a:r>
              <a:rPr sz="1800" b="0">
                <a:solidFill>
                  <a:srgbClr val="526575"/>
                </a:solidFill>
                <a:latin typeface="Arial"/>
              </a:rPr>
              <a:t>has_skill</a:t>
            </a:r>
          </a:p>
        </p:txBody>
      </p:sp>
      <p:cxnSp>
        <p:nvCxnSpPr>
          <p:cNvPr id="13" name="Connector 12"/>
          <p:cNvCxnSpPr/>
          <p:nvPr/>
        </p:nvCxnSpPr>
        <p:spPr>
          <a:xfrm>
            <a:off x="8412480" y="2971800"/>
            <a:ext cx="1280160" cy="123444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326880" y="3383280"/>
            <a:ext cx="1554480" cy="411480"/>
          </a:xfrm>
          <a:prstGeom prst="rect">
            <a:avLst/>
          </a:prstGeom>
          <a:noFill/>
        </p:spPr>
        <p:txBody>
          <a:bodyPr wrap="square" lIns="0" rIns="0" tIns="0" bIns="36576">
            <a:spAutoFit/>
          </a:bodyPr>
          <a:lstStyle/>
          <a:p>
            <a:pPr algn="ctr">
              <a:lnSpc>
                <a:spcPct val="112000"/>
              </a:lnSpc>
              <a:spcBef>
                <a:spcPts val="0"/>
              </a:spcBef>
              <a:spcAft>
                <a:spcPts val="600"/>
              </a:spcAft>
            </a:pPr>
            <a:r>
              <a:rPr sz="1800" b="0">
                <a:solidFill>
                  <a:srgbClr val="526575"/>
                </a:solidFill>
                <a:latin typeface="Arial"/>
              </a:rPr>
              <a:t>works_at</a:t>
            </a:r>
          </a:p>
        </p:txBody>
      </p:sp>
      <p:cxnSp>
        <p:nvCxnSpPr>
          <p:cNvPr id="15" name="Connector 14"/>
          <p:cNvCxnSpPr/>
          <p:nvPr/>
        </p:nvCxnSpPr>
        <p:spPr>
          <a:xfrm flipH="1">
            <a:off x="3063240" y="4663440"/>
            <a:ext cx="1691640"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108960" y="5074920"/>
            <a:ext cx="2743200" cy="512064"/>
          </a:xfrm>
          <a:prstGeom prst="rect">
            <a:avLst/>
          </a:prstGeom>
          <a:noFill/>
        </p:spPr>
        <p:txBody>
          <a:bodyPr wrap="square" lIns="0" rIns="0" tIns="0" bIns="36576">
            <a:spAutoFit/>
          </a:bodyPr>
          <a:lstStyle/>
          <a:p>
            <a:pPr algn="l">
              <a:lnSpc>
                <a:spcPct val="112000"/>
              </a:lnSpc>
              <a:spcBef>
                <a:spcPts val="0"/>
              </a:spcBef>
              <a:spcAft>
                <a:spcPts val="600"/>
              </a:spcAft>
            </a:pPr>
            <a:r>
              <a:rPr sz="1600" b="0">
                <a:solidFill>
                  <a:srgbClr val="526575"/>
                </a:solidFill>
                <a:latin typeface="Arial"/>
              </a:rPr>
              <a:t>job_requires_skill</a:t>
            </a:r>
          </a:p>
        </p:txBody>
      </p:sp>
      <p:cxnSp>
        <p:nvCxnSpPr>
          <p:cNvPr id="17" name="Connector 16"/>
          <p:cNvCxnSpPr/>
          <p:nvPr/>
        </p:nvCxnSpPr>
        <p:spPr>
          <a:xfrm>
            <a:off x="6812280" y="4663440"/>
            <a:ext cx="1920240"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903720" y="5074920"/>
            <a:ext cx="2103120" cy="512064"/>
          </a:xfrm>
          <a:prstGeom prst="rect">
            <a:avLst/>
          </a:prstGeom>
          <a:noFill/>
        </p:spPr>
        <p:txBody>
          <a:bodyPr wrap="square" lIns="0" rIns="0" tIns="0" bIns="36576">
            <a:spAutoFit/>
          </a:bodyPr>
          <a:lstStyle/>
          <a:p>
            <a:pPr algn="l">
              <a:lnSpc>
                <a:spcPct val="112000"/>
              </a:lnSpc>
              <a:spcBef>
                <a:spcPts val="0"/>
              </a:spcBef>
              <a:spcAft>
                <a:spcPts val="600"/>
              </a:spcAft>
            </a:pPr>
            <a:r>
              <a:rPr sz="1600" b="0">
                <a:solidFill>
                  <a:srgbClr val="526575"/>
                </a:solidFill>
                <a:latin typeface="Arial"/>
              </a:rPr>
              <a:t>job_at_company</a:t>
            </a:r>
          </a:p>
        </p:txBody>
      </p:sp>
      <p:sp>
        <p:nvSpPr>
          <p:cNvPr id="19" name="TextBox 18"/>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Đỉnh lưu thực thể; cạnh lưu quan hệ và thuộc tính nghiệp vụ.</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DỮ LIỆU: CÔNG KHAI VÀ KIỂM THỬ</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07 / 20</a:t>
            </a:r>
          </a:p>
        </p:txBody>
      </p:sp>
      <p:sp>
        <p:nvSpPr>
          <p:cNvPr id="4" name="Rounded Rectangle 3"/>
          <p:cNvSpPr/>
          <p:nvPr/>
        </p:nvSpPr>
        <p:spPr>
          <a:xfrm>
            <a:off x="548640"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5" name="TextBox 4"/>
          <p:cNvSpPr txBox="1"/>
          <p:nvPr/>
        </p:nvSpPr>
        <p:spPr>
          <a:xfrm>
            <a:off x="731520"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29 tin công khai</a:t>
            </a:r>
          </a:p>
        </p:txBody>
      </p:sp>
      <p:sp>
        <p:nvSpPr>
          <p:cNvPr id="6" name="TextBox 5"/>
          <p:cNvSpPr txBox="1"/>
          <p:nvPr/>
        </p:nvSpPr>
        <p:spPr>
          <a:xfrm>
            <a:off x="731520"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KMS 5  •  Bosch 12  •  Grab 12</a:t>
            </a:r>
          </a:p>
          <a:p>
            <a:pPr algn="l">
              <a:lnSpc>
                <a:spcPct val="112000"/>
              </a:lnSpc>
              <a:spcBef>
                <a:spcPts val="0"/>
              </a:spcBef>
              <a:spcAft>
                <a:spcPts val="600"/>
              </a:spcAft>
            </a:pPr>
            <a:r>
              <a:rPr sz="2300" b="0">
                <a:solidFill>
                  <a:srgbClr val="123653"/>
                </a:solidFill>
                <a:latin typeface="Arial"/>
              </a:rPr>
              <a:t>Có URL và thời điểm lấy tin.</a:t>
            </a:r>
          </a:p>
        </p:txBody>
      </p:sp>
      <p:sp>
        <p:nvSpPr>
          <p:cNvPr id="7" name="Rounded Rectangle 6"/>
          <p:cNvSpPr/>
          <p:nvPr/>
        </p:nvSpPr>
        <p:spPr>
          <a:xfrm>
            <a:off x="4315968"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8" name="TextBox 7"/>
          <p:cNvSpPr txBox="1"/>
          <p:nvPr/>
        </p:nvSpPr>
        <p:spPr>
          <a:xfrm>
            <a:off x="4498848"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28 kỹ năng</a:t>
            </a:r>
          </a:p>
        </p:txBody>
      </p:sp>
      <p:sp>
        <p:nvSpPr>
          <p:cNvPr id="9" name="TextBox 8"/>
          <p:cNvSpPr txBox="1"/>
          <p:nvPr/>
        </p:nvSpPr>
        <p:spPr>
          <a:xfrm>
            <a:off x="4498848"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Chuẩn hóa danh mục</a:t>
            </a:r>
          </a:p>
          <a:p>
            <a:pPr algn="l">
              <a:lnSpc>
                <a:spcPct val="112000"/>
              </a:lnSpc>
              <a:spcBef>
                <a:spcPts val="0"/>
              </a:spcBef>
              <a:spcAft>
                <a:spcPts val="600"/>
              </a:spcAft>
            </a:pPr>
            <a:r>
              <a:rPr sz="2300" b="0">
                <a:solidFill>
                  <a:srgbClr val="123653"/>
                </a:solidFill>
                <a:latin typeface="Arial"/>
              </a:rPr>
              <a:t>để đối chiếu hồ sơ.</a:t>
            </a:r>
          </a:p>
        </p:txBody>
      </p:sp>
      <p:sp>
        <p:nvSpPr>
          <p:cNvPr id="10" name="Rounded Rectangle 9"/>
          <p:cNvSpPr/>
          <p:nvPr/>
        </p:nvSpPr>
        <p:spPr>
          <a:xfrm>
            <a:off x="8083296"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11" name="TextBox 10"/>
          <p:cNvSpPr txBox="1"/>
          <p:nvPr/>
        </p:nvSpPr>
        <p:spPr>
          <a:xfrm>
            <a:off x="8266175"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Graph kiểm thử</a:t>
            </a:r>
          </a:p>
        </p:txBody>
      </p:sp>
      <p:sp>
        <p:nvSpPr>
          <p:cNvPr id="12" name="TextBox 11"/>
          <p:cNvSpPr txBox="1"/>
          <p:nvPr/>
        </p:nvSpPr>
        <p:spPr>
          <a:xfrm>
            <a:off x="8266175"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Hồ sơ / employment giả lập</a:t>
            </a:r>
          </a:p>
          <a:p>
            <a:pPr algn="l">
              <a:lnSpc>
                <a:spcPct val="112000"/>
              </a:lnSpc>
              <a:spcBef>
                <a:spcPts val="0"/>
              </a:spcBef>
              <a:spcAft>
                <a:spcPts val="600"/>
              </a:spcAft>
            </a:pPr>
            <a:r>
              <a:rPr sz="2300" b="0">
                <a:solidFill>
                  <a:srgbClr val="123653"/>
                </a:solidFill>
                <a:latin typeface="Arial"/>
              </a:rPr>
              <a:t>được gắn nhãn riêng.</a:t>
            </a:r>
          </a:p>
        </p:txBody>
      </p:sp>
      <p:sp>
        <p:nvSpPr>
          <p:cNvPr id="13" name="TextBox 12"/>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Snapshot ngày 12/10/2026; không tự tạo nhân viên giả cho công ty thật.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GỢI Ý VIỆC LÀM: ĐIỂM CÓ GIẢI THÍCH</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08 / 20</a:t>
            </a:r>
          </a:p>
        </p:txBody>
      </p:sp>
      <p:sp>
        <p:nvSpPr>
          <p:cNvPr id="4" name="TextBox 3"/>
          <p:cNvSpPr txBox="1"/>
          <p:nvPr/>
        </p:nvSpPr>
        <p:spPr>
          <a:xfrm>
            <a:off x="731520" y="1856231"/>
            <a:ext cx="10789920" cy="640080"/>
          </a:xfrm>
          <a:prstGeom prst="rect">
            <a:avLst/>
          </a:prstGeom>
          <a:noFill/>
        </p:spPr>
        <p:txBody>
          <a:bodyPr wrap="square" lIns="0" rIns="0" tIns="0" bIns="36576">
            <a:spAutoFit/>
          </a:bodyPr>
          <a:lstStyle/>
          <a:p>
            <a:pPr algn="ctr">
              <a:lnSpc>
                <a:spcPct val="112000"/>
              </a:lnSpc>
              <a:spcBef>
                <a:spcPts val="0"/>
              </a:spcBef>
              <a:spcAft>
                <a:spcPts val="600"/>
              </a:spcAft>
            </a:pPr>
            <a:r>
              <a:rPr sz="2900" b="1">
                <a:solidFill>
                  <a:srgbClr val="005BAA"/>
                </a:solidFill>
                <a:latin typeface="Arial"/>
              </a:rPr>
              <a:t>Điểm = 40% K + 20% E + 15% L + 15% V + 10% W</a:t>
            </a:r>
          </a:p>
        </p:txBody>
      </p:sp>
      <p:sp>
        <p:nvSpPr>
          <p:cNvPr id="5" name="Rounded Rectangle 4"/>
          <p:cNvSpPr/>
          <p:nvPr/>
        </p:nvSpPr>
        <p:spPr>
          <a:xfrm>
            <a:off x="640080" y="3017520"/>
            <a:ext cx="2084831" cy="146304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6" name="TextBox 5"/>
          <p:cNvSpPr txBox="1"/>
          <p:nvPr/>
        </p:nvSpPr>
        <p:spPr>
          <a:xfrm>
            <a:off x="731519" y="3218688"/>
            <a:ext cx="1901952" cy="594360"/>
          </a:xfrm>
          <a:prstGeom prst="rect">
            <a:avLst/>
          </a:prstGeom>
          <a:noFill/>
        </p:spPr>
        <p:txBody>
          <a:bodyPr wrap="square" lIns="0" rIns="0" tIns="0" bIns="36576">
            <a:spAutoFit/>
          </a:bodyPr>
          <a:lstStyle/>
          <a:p>
            <a:pPr algn="ctr">
              <a:lnSpc>
                <a:spcPct val="112000"/>
              </a:lnSpc>
              <a:spcBef>
                <a:spcPts val="0"/>
              </a:spcBef>
              <a:spcAft>
                <a:spcPts val="600"/>
              </a:spcAft>
            </a:pPr>
            <a:r>
              <a:rPr sz="3500" b="1">
                <a:solidFill>
                  <a:srgbClr val="005BAA"/>
                </a:solidFill>
                <a:latin typeface="Arial"/>
              </a:rPr>
              <a:t>40%</a:t>
            </a:r>
          </a:p>
        </p:txBody>
      </p:sp>
      <p:sp>
        <p:nvSpPr>
          <p:cNvPr id="7" name="TextBox 6"/>
          <p:cNvSpPr txBox="1"/>
          <p:nvPr/>
        </p:nvSpPr>
        <p:spPr>
          <a:xfrm>
            <a:off x="713231" y="3931920"/>
            <a:ext cx="1938528" cy="365760"/>
          </a:xfrm>
          <a:prstGeom prst="rect">
            <a:avLst/>
          </a:prstGeom>
          <a:noFill/>
        </p:spPr>
        <p:txBody>
          <a:bodyPr wrap="square" lIns="0" rIns="0" tIns="0" bIns="36576">
            <a:spAutoFit/>
          </a:bodyPr>
          <a:lstStyle/>
          <a:p>
            <a:pPr algn="ctr">
              <a:lnSpc>
                <a:spcPct val="112000"/>
              </a:lnSpc>
              <a:spcBef>
                <a:spcPts val="0"/>
              </a:spcBef>
              <a:spcAft>
                <a:spcPts val="600"/>
              </a:spcAft>
            </a:pPr>
            <a:r>
              <a:rPr sz="1900" b="0">
                <a:solidFill>
                  <a:srgbClr val="123653"/>
                </a:solidFill>
                <a:latin typeface="Arial"/>
              </a:rPr>
              <a:t>Kỹ năng</a:t>
            </a:r>
          </a:p>
        </p:txBody>
      </p:sp>
      <p:sp>
        <p:nvSpPr>
          <p:cNvPr id="8" name="Rounded Rectangle 7"/>
          <p:cNvSpPr/>
          <p:nvPr/>
        </p:nvSpPr>
        <p:spPr>
          <a:xfrm>
            <a:off x="2971800" y="3017520"/>
            <a:ext cx="2084831" cy="146304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9" name="TextBox 8"/>
          <p:cNvSpPr txBox="1"/>
          <p:nvPr/>
        </p:nvSpPr>
        <p:spPr>
          <a:xfrm>
            <a:off x="3063240" y="3218688"/>
            <a:ext cx="1901952" cy="594360"/>
          </a:xfrm>
          <a:prstGeom prst="rect">
            <a:avLst/>
          </a:prstGeom>
          <a:noFill/>
        </p:spPr>
        <p:txBody>
          <a:bodyPr wrap="square" lIns="0" rIns="0" tIns="0" bIns="36576">
            <a:spAutoFit/>
          </a:bodyPr>
          <a:lstStyle/>
          <a:p>
            <a:pPr algn="ctr">
              <a:lnSpc>
                <a:spcPct val="112000"/>
              </a:lnSpc>
              <a:spcBef>
                <a:spcPts val="0"/>
              </a:spcBef>
              <a:spcAft>
                <a:spcPts val="600"/>
              </a:spcAft>
            </a:pPr>
            <a:r>
              <a:rPr sz="3500" b="1">
                <a:solidFill>
                  <a:srgbClr val="005BAA"/>
                </a:solidFill>
                <a:latin typeface="Arial"/>
              </a:rPr>
              <a:t>20%</a:t>
            </a:r>
          </a:p>
        </p:txBody>
      </p:sp>
      <p:sp>
        <p:nvSpPr>
          <p:cNvPr id="10" name="TextBox 9"/>
          <p:cNvSpPr txBox="1"/>
          <p:nvPr/>
        </p:nvSpPr>
        <p:spPr>
          <a:xfrm>
            <a:off x="3044952" y="3931920"/>
            <a:ext cx="1938528" cy="365760"/>
          </a:xfrm>
          <a:prstGeom prst="rect">
            <a:avLst/>
          </a:prstGeom>
          <a:noFill/>
        </p:spPr>
        <p:txBody>
          <a:bodyPr wrap="square" lIns="0" rIns="0" tIns="0" bIns="36576">
            <a:spAutoFit/>
          </a:bodyPr>
          <a:lstStyle/>
          <a:p>
            <a:pPr algn="ctr">
              <a:lnSpc>
                <a:spcPct val="112000"/>
              </a:lnSpc>
              <a:spcBef>
                <a:spcPts val="0"/>
              </a:spcBef>
              <a:spcAft>
                <a:spcPts val="600"/>
              </a:spcAft>
            </a:pPr>
            <a:r>
              <a:rPr sz="1900" b="0">
                <a:solidFill>
                  <a:srgbClr val="123653"/>
                </a:solidFill>
                <a:latin typeface="Arial"/>
              </a:rPr>
              <a:t>Kinh nghiệm</a:t>
            </a:r>
          </a:p>
        </p:txBody>
      </p:sp>
      <p:sp>
        <p:nvSpPr>
          <p:cNvPr id="11" name="Rounded Rectangle 10"/>
          <p:cNvSpPr/>
          <p:nvPr/>
        </p:nvSpPr>
        <p:spPr>
          <a:xfrm>
            <a:off x="5303520" y="3017520"/>
            <a:ext cx="2084831" cy="146304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12" name="TextBox 11"/>
          <p:cNvSpPr txBox="1"/>
          <p:nvPr/>
        </p:nvSpPr>
        <p:spPr>
          <a:xfrm>
            <a:off x="5394959" y="3218688"/>
            <a:ext cx="1901952" cy="594360"/>
          </a:xfrm>
          <a:prstGeom prst="rect">
            <a:avLst/>
          </a:prstGeom>
          <a:noFill/>
        </p:spPr>
        <p:txBody>
          <a:bodyPr wrap="square" lIns="0" rIns="0" tIns="0" bIns="36576">
            <a:spAutoFit/>
          </a:bodyPr>
          <a:lstStyle/>
          <a:p>
            <a:pPr algn="ctr">
              <a:lnSpc>
                <a:spcPct val="112000"/>
              </a:lnSpc>
              <a:spcBef>
                <a:spcPts val="0"/>
              </a:spcBef>
              <a:spcAft>
                <a:spcPts val="600"/>
              </a:spcAft>
            </a:pPr>
            <a:r>
              <a:rPr sz="3500" b="1">
                <a:solidFill>
                  <a:srgbClr val="005BAA"/>
                </a:solidFill>
                <a:latin typeface="Arial"/>
              </a:rPr>
              <a:t>15%</a:t>
            </a:r>
          </a:p>
        </p:txBody>
      </p:sp>
      <p:sp>
        <p:nvSpPr>
          <p:cNvPr id="13" name="TextBox 12"/>
          <p:cNvSpPr txBox="1"/>
          <p:nvPr/>
        </p:nvSpPr>
        <p:spPr>
          <a:xfrm>
            <a:off x="5376672" y="3931920"/>
            <a:ext cx="1938528" cy="365760"/>
          </a:xfrm>
          <a:prstGeom prst="rect">
            <a:avLst/>
          </a:prstGeom>
          <a:noFill/>
        </p:spPr>
        <p:txBody>
          <a:bodyPr wrap="square" lIns="0" rIns="0" tIns="0" bIns="36576">
            <a:spAutoFit/>
          </a:bodyPr>
          <a:lstStyle/>
          <a:p>
            <a:pPr algn="ctr">
              <a:lnSpc>
                <a:spcPct val="112000"/>
              </a:lnSpc>
              <a:spcBef>
                <a:spcPts val="0"/>
              </a:spcBef>
              <a:spcAft>
                <a:spcPts val="600"/>
              </a:spcAft>
            </a:pPr>
            <a:r>
              <a:rPr sz="1900" b="0">
                <a:solidFill>
                  <a:srgbClr val="123653"/>
                </a:solidFill>
                <a:latin typeface="Arial"/>
              </a:rPr>
              <a:t>Địa điểm</a:t>
            </a:r>
          </a:p>
        </p:txBody>
      </p:sp>
      <p:sp>
        <p:nvSpPr>
          <p:cNvPr id="14" name="Rounded Rectangle 13"/>
          <p:cNvSpPr/>
          <p:nvPr/>
        </p:nvSpPr>
        <p:spPr>
          <a:xfrm>
            <a:off x="7635240" y="3017520"/>
            <a:ext cx="2084831" cy="146304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15" name="TextBox 14"/>
          <p:cNvSpPr txBox="1"/>
          <p:nvPr/>
        </p:nvSpPr>
        <p:spPr>
          <a:xfrm>
            <a:off x="7726679" y="3218688"/>
            <a:ext cx="1901952" cy="594360"/>
          </a:xfrm>
          <a:prstGeom prst="rect">
            <a:avLst/>
          </a:prstGeom>
          <a:noFill/>
        </p:spPr>
        <p:txBody>
          <a:bodyPr wrap="square" lIns="0" rIns="0" tIns="0" bIns="36576">
            <a:spAutoFit/>
          </a:bodyPr>
          <a:lstStyle/>
          <a:p>
            <a:pPr algn="ctr">
              <a:lnSpc>
                <a:spcPct val="112000"/>
              </a:lnSpc>
              <a:spcBef>
                <a:spcPts val="0"/>
              </a:spcBef>
              <a:spcAft>
                <a:spcPts val="600"/>
              </a:spcAft>
            </a:pPr>
            <a:r>
              <a:rPr sz="3500" b="1">
                <a:solidFill>
                  <a:srgbClr val="005BAA"/>
                </a:solidFill>
                <a:latin typeface="Arial"/>
              </a:rPr>
              <a:t>15%</a:t>
            </a:r>
          </a:p>
        </p:txBody>
      </p:sp>
      <p:sp>
        <p:nvSpPr>
          <p:cNvPr id="16" name="TextBox 15"/>
          <p:cNvSpPr txBox="1"/>
          <p:nvPr/>
        </p:nvSpPr>
        <p:spPr>
          <a:xfrm>
            <a:off x="7708392" y="3931920"/>
            <a:ext cx="1938528" cy="365760"/>
          </a:xfrm>
          <a:prstGeom prst="rect">
            <a:avLst/>
          </a:prstGeom>
          <a:noFill/>
        </p:spPr>
        <p:txBody>
          <a:bodyPr wrap="square" lIns="0" rIns="0" tIns="0" bIns="36576">
            <a:spAutoFit/>
          </a:bodyPr>
          <a:lstStyle/>
          <a:p>
            <a:pPr algn="ctr">
              <a:lnSpc>
                <a:spcPct val="112000"/>
              </a:lnSpc>
              <a:spcBef>
                <a:spcPts val="0"/>
              </a:spcBef>
              <a:spcAft>
                <a:spcPts val="600"/>
              </a:spcAft>
            </a:pPr>
            <a:r>
              <a:rPr sz="1900" b="0">
                <a:solidFill>
                  <a:srgbClr val="123653"/>
                </a:solidFill>
                <a:latin typeface="Arial"/>
              </a:rPr>
              <a:t>Cấp độ</a:t>
            </a:r>
          </a:p>
        </p:txBody>
      </p:sp>
      <p:sp>
        <p:nvSpPr>
          <p:cNvPr id="17" name="Rounded Rectangle 16"/>
          <p:cNvSpPr/>
          <p:nvPr/>
        </p:nvSpPr>
        <p:spPr>
          <a:xfrm>
            <a:off x="9966959" y="3017520"/>
            <a:ext cx="2084831" cy="146304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18" name="TextBox 17"/>
          <p:cNvSpPr txBox="1"/>
          <p:nvPr/>
        </p:nvSpPr>
        <p:spPr>
          <a:xfrm>
            <a:off x="10058399" y="3218688"/>
            <a:ext cx="1901952" cy="594360"/>
          </a:xfrm>
          <a:prstGeom prst="rect">
            <a:avLst/>
          </a:prstGeom>
          <a:noFill/>
        </p:spPr>
        <p:txBody>
          <a:bodyPr wrap="square" lIns="0" rIns="0" tIns="0" bIns="36576">
            <a:spAutoFit/>
          </a:bodyPr>
          <a:lstStyle/>
          <a:p>
            <a:pPr algn="ctr">
              <a:lnSpc>
                <a:spcPct val="112000"/>
              </a:lnSpc>
              <a:spcBef>
                <a:spcPts val="0"/>
              </a:spcBef>
              <a:spcAft>
                <a:spcPts val="600"/>
              </a:spcAft>
            </a:pPr>
            <a:r>
              <a:rPr sz="3500" b="1">
                <a:solidFill>
                  <a:srgbClr val="005BAA"/>
                </a:solidFill>
                <a:latin typeface="Arial"/>
              </a:rPr>
              <a:t>10%</a:t>
            </a:r>
          </a:p>
        </p:txBody>
      </p:sp>
      <p:sp>
        <p:nvSpPr>
          <p:cNvPr id="19" name="TextBox 18"/>
          <p:cNvSpPr txBox="1"/>
          <p:nvPr/>
        </p:nvSpPr>
        <p:spPr>
          <a:xfrm>
            <a:off x="10040111" y="3931920"/>
            <a:ext cx="1938528" cy="365760"/>
          </a:xfrm>
          <a:prstGeom prst="rect">
            <a:avLst/>
          </a:prstGeom>
          <a:noFill/>
        </p:spPr>
        <p:txBody>
          <a:bodyPr wrap="square" lIns="0" rIns="0" tIns="0" bIns="36576">
            <a:spAutoFit/>
          </a:bodyPr>
          <a:lstStyle/>
          <a:p>
            <a:pPr algn="ctr">
              <a:lnSpc>
                <a:spcPct val="112000"/>
              </a:lnSpc>
              <a:spcBef>
                <a:spcPts val="0"/>
              </a:spcBef>
              <a:spcAft>
                <a:spcPts val="600"/>
              </a:spcAft>
            </a:pPr>
            <a:r>
              <a:rPr sz="1900" b="0">
                <a:solidFill>
                  <a:srgbClr val="123653"/>
                </a:solidFill>
                <a:latin typeface="Arial"/>
              </a:rPr>
              <a:t>Hình thức</a:t>
            </a:r>
          </a:p>
        </p:txBody>
      </p:sp>
      <p:sp>
        <p:nvSpPr>
          <p:cNvPr id="20" name="TextBox 19"/>
          <p:cNvSpPr txBox="1"/>
          <p:nvPr/>
        </p:nvSpPr>
        <p:spPr>
          <a:xfrm>
            <a:off x="822960" y="4864608"/>
            <a:ext cx="10515600" cy="676656"/>
          </a:xfrm>
          <a:prstGeom prst="rect">
            <a:avLst/>
          </a:prstGeom>
          <a:noFill/>
        </p:spPr>
        <p:txBody>
          <a:bodyPr wrap="square" lIns="0" rIns="0" tIns="0" bIns="36576">
            <a:spAutoFit/>
          </a:bodyPr>
          <a:lstStyle/>
          <a:p>
            <a:pPr algn="ctr">
              <a:lnSpc>
                <a:spcPct val="112000"/>
              </a:lnSpc>
              <a:spcBef>
                <a:spcPts val="0"/>
              </a:spcBef>
              <a:spcAft>
                <a:spcPts val="600"/>
              </a:spcAft>
            </a:pPr>
            <a:r>
              <a:rPr sz="2400" b="0">
                <a:solidFill>
                  <a:srgbClr val="123653"/>
                </a:solidFill>
                <a:latin typeface="Arial"/>
              </a:rPr>
              <a:t>Khớp kỹ năng theo mức thành thạo và số năm kinh nghiệm.</a:t>
            </a:r>
          </a:p>
        </p:txBody>
      </p:sp>
      <p:sp>
        <p:nvSpPr>
          <p:cNvPr id="21" name="TextBox 20"/>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Điểm xếp hạng theo dữ liệu đã lưu; không phải xác suất được tuyển.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TÌM ĐƯỜNG TỚI NGƯỜI GIỚI THIỆU</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09 / 20</a:t>
            </a:r>
          </a:p>
        </p:txBody>
      </p:sp>
      <p:sp>
        <p:nvSpPr>
          <p:cNvPr id="4" name="Rounded Rectangle 3"/>
          <p:cNvSpPr/>
          <p:nvPr/>
        </p:nvSpPr>
        <p:spPr>
          <a:xfrm>
            <a:off x="640080" y="2606040"/>
            <a:ext cx="2286000" cy="12801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A</a:t>
            </a:r>
          </a:p>
          <a:p>
            <a:pPr algn="ctr">
              <a:lnSpc>
                <a:spcPct val="112000"/>
              </a:lnSpc>
              <a:spcBef>
                <a:spcPts val="0"/>
              </a:spcBef>
              <a:spcAft>
                <a:spcPts val="600"/>
              </a:spcAft>
            </a:pPr>
            <a:r>
              <a:rPr sz="2300" b="1">
                <a:solidFill>
                  <a:srgbClr val="005BAA"/>
                </a:solidFill>
                <a:latin typeface="Arial"/>
              </a:rPr>
              <a:t>Ứng viên</a:t>
            </a:r>
          </a:p>
        </p:txBody>
      </p:sp>
      <p:sp>
        <p:nvSpPr>
          <p:cNvPr id="5" name="Rounded Rectangle 4"/>
          <p:cNvSpPr/>
          <p:nvPr/>
        </p:nvSpPr>
        <p:spPr>
          <a:xfrm>
            <a:off x="3337560" y="2606040"/>
            <a:ext cx="2286000" cy="12801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B</a:t>
            </a:r>
          </a:p>
          <a:p>
            <a:pPr algn="ctr">
              <a:lnSpc>
                <a:spcPct val="112000"/>
              </a:lnSpc>
              <a:spcBef>
                <a:spcPts val="0"/>
              </a:spcBef>
              <a:spcAft>
                <a:spcPts val="600"/>
              </a:spcAft>
            </a:pPr>
            <a:r>
              <a:rPr sz="2300" b="1">
                <a:solidFill>
                  <a:srgbClr val="005BAA"/>
                </a:solidFill>
                <a:latin typeface="Arial"/>
              </a:rPr>
              <a:t>Kết nối</a:t>
            </a:r>
          </a:p>
        </p:txBody>
      </p:sp>
      <p:sp>
        <p:nvSpPr>
          <p:cNvPr id="6" name="Rounded Rectangle 5"/>
          <p:cNvSpPr/>
          <p:nvPr/>
        </p:nvSpPr>
        <p:spPr>
          <a:xfrm>
            <a:off x="6035040" y="2606040"/>
            <a:ext cx="2286000" cy="12801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C</a:t>
            </a:r>
          </a:p>
          <a:p>
            <a:pPr algn="ctr">
              <a:lnSpc>
                <a:spcPct val="112000"/>
              </a:lnSpc>
              <a:spcBef>
                <a:spcPts val="0"/>
              </a:spcBef>
              <a:spcAft>
                <a:spcPts val="600"/>
              </a:spcAft>
            </a:pPr>
            <a:r>
              <a:rPr sz="2300" b="1">
                <a:solidFill>
                  <a:srgbClr val="005BAA"/>
                </a:solidFill>
                <a:latin typeface="Arial"/>
              </a:rPr>
              <a:t>Người giới thiệu</a:t>
            </a:r>
          </a:p>
        </p:txBody>
      </p:sp>
      <p:sp>
        <p:nvSpPr>
          <p:cNvPr id="7" name="Rounded Rectangle 6"/>
          <p:cNvSpPr/>
          <p:nvPr/>
        </p:nvSpPr>
        <p:spPr>
          <a:xfrm>
            <a:off x="9144000" y="2606040"/>
            <a:ext cx="2286000" cy="12801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X</a:t>
            </a:r>
          </a:p>
          <a:p>
            <a:pPr algn="ctr">
              <a:lnSpc>
                <a:spcPct val="112000"/>
              </a:lnSpc>
              <a:spcBef>
                <a:spcPts val="0"/>
              </a:spcBef>
              <a:spcAft>
                <a:spcPts val="600"/>
              </a:spcAft>
            </a:pPr>
            <a:r>
              <a:rPr sz="2300" b="1">
                <a:solidFill>
                  <a:srgbClr val="005BAA"/>
                </a:solidFill>
                <a:latin typeface="Arial"/>
              </a:rPr>
              <a:t>Doanh nghiệp</a:t>
            </a:r>
          </a:p>
        </p:txBody>
      </p:sp>
      <p:cxnSp>
        <p:nvCxnSpPr>
          <p:cNvPr id="8" name="Connector 7"/>
          <p:cNvCxnSpPr/>
          <p:nvPr/>
        </p:nvCxnSpPr>
        <p:spPr>
          <a:xfrm>
            <a:off x="2926080" y="3246120"/>
            <a:ext cx="38404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23560" y="3246120"/>
            <a:ext cx="38404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321040" y="3246120"/>
            <a:ext cx="79552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920240" y="4251960"/>
            <a:ext cx="5029200" cy="502920"/>
          </a:xfrm>
          <a:prstGeom prst="rect">
            <a:avLst/>
          </a:prstGeom>
          <a:noFill/>
        </p:spPr>
        <p:txBody>
          <a:bodyPr wrap="square" lIns="0" rIns="0" tIns="0" bIns="36576">
            <a:spAutoFit/>
          </a:bodyPr>
          <a:lstStyle/>
          <a:p>
            <a:pPr algn="ctr">
              <a:lnSpc>
                <a:spcPct val="112000"/>
              </a:lnSpc>
              <a:spcBef>
                <a:spcPts val="0"/>
              </a:spcBef>
              <a:spcAft>
                <a:spcPts val="600"/>
              </a:spcAft>
            </a:pPr>
            <a:r>
              <a:rPr sz="2900" b="1">
                <a:solidFill>
                  <a:srgbClr val="005BAA"/>
                </a:solidFill>
                <a:latin typeface="Arial"/>
              </a:rPr>
              <a:t>A → B → C: 2 kết nối</a:t>
            </a:r>
          </a:p>
        </p:txBody>
      </p:sp>
      <p:sp>
        <p:nvSpPr>
          <p:cNvPr id="12" name="TextBox 11"/>
          <p:cNvSpPr txBox="1"/>
          <p:nvPr/>
        </p:nvSpPr>
        <p:spPr>
          <a:xfrm>
            <a:off x="8412480" y="4050791"/>
            <a:ext cx="3291840" cy="1005840"/>
          </a:xfrm>
          <a:prstGeom prst="rect">
            <a:avLst/>
          </a:prstGeom>
          <a:noFill/>
        </p:spPr>
        <p:txBody>
          <a:bodyPr wrap="square" lIns="0" rIns="0" tIns="0" bIns="36576">
            <a:spAutoFit/>
          </a:bodyPr>
          <a:lstStyle/>
          <a:p>
            <a:pPr algn="ctr">
              <a:lnSpc>
                <a:spcPct val="112000"/>
              </a:lnSpc>
              <a:spcBef>
                <a:spcPts val="0"/>
              </a:spcBef>
              <a:spcAft>
                <a:spcPts val="600"/>
              </a:spcAft>
            </a:pPr>
            <a:r>
              <a:rPr sz="2000" b="0">
                <a:solidFill>
                  <a:srgbClr val="526575"/>
                </a:solidFill>
                <a:latin typeface="Arial"/>
              </a:rPr>
              <a:t>works_at</a:t>
            </a:r>
          </a:p>
          <a:p>
            <a:pPr algn="ctr">
              <a:lnSpc>
                <a:spcPct val="112000"/>
              </a:lnSpc>
              <a:spcBef>
                <a:spcPts val="0"/>
              </a:spcBef>
              <a:spcAft>
                <a:spcPts val="600"/>
              </a:spcAft>
            </a:pPr>
            <a:r>
              <a:rPr sz="2000" b="0">
                <a:solidFill>
                  <a:srgbClr val="526575"/>
                </a:solidFill>
                <a:latin typeface="Arial"/>
              </a:rPr>
              <a:t>Hiện tại + đã xác minh</a:t>
            </a:r>
          </a:p>
        </p:txBody>
      </p:sp>
      <p:sp>
        <p:nvSpPr>
          <p:cNvPr id="13" name="TextBox 12"/>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Chỉ đi qua kết nối accepted, tài khoản active và quyền chia sẻ hợp lệ.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AQL: DUYỆT GRAPH VÀ LOẠI NHÁNH</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10 / 20</a:t>
            </a:r>
          </a:p>
        </p:txBody>
      </p:sp>
      <p:sp>
        <p:nvSpPr>
          <p:cNvPr id="4" name="Rounded Rectangle 3"/>
          <p:cNvSpPr/>
          <p:nvPr/>
        </p:nvSpPr>
        <p:spPr>
          <a:xfrm>
            <a:off x="640080" y="1920240"/>
            <a:ext cx="6766560"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5" name="TextBox 4"/>
          <p:cNvSpPr txBox="1"/>
          <p:nvPr/>
        </p:nvSpPr>
        <p:spPr>
          <a:xfrm>
            <a:off x="841248" y="2221992"/>
            <a:ext cx="6364224" cy="2697480"/>
          </a:xfrm>
          <a:prstGeom prst="rect">
            <a:avLst/>
          </a:prstGeom>
          <a:noFill/>
        </p:spPr>
        <p:txBody>
          <a:bodyPr wrap="square" lIns="0" rIns="0" tIns="0" bIns="36576">
            <a:spAutoFit/>
          </a:bodyPr>
          <a:lstStyle/>
          <a:p>
            <a:pPr algn="l">
              <a:lnSpc>
                <a:spcPct val="112000"/>
              </a:lnSpc>
              <a:spcBef>
                <a:spcPts val="0"/>
              </a:spcBef>
              <a:spcAft>
                <a:spcPts val="600"/>
              </a:spcAft>
            </a:pPr>
            <a:r>
              <a:rPr sz="2000" b="0">
                <a:solidFill>
                  <a:srgbClr val="123653"/>
                </a:solidFill>
                <a:latin typeface="Consolas"/>
              </a:rPr>
              <a:t>FOR v, e, p IN 1..@max_depth</a:t>
            </a:r>
          </a:p>
          <a:p>
            <a:pPr algn="l">
              <a:lnSpc>
                <a:spcPct val="112000"/>
              </a:lnSpc>
              <a:spcBef>
                <a:spcPts val="0"/>
              </a:spcBef>
              <a:spcAft>
                <a:spcPts val="600"/>
              </a:spcAft>
            </a:pPr>
            <a:r>
              <a:rPr sz="2000" b="0">
                <a:solidFill>
                  <a:srgbClr val="123653"/>
                </a:solidFill>
                <a:latin typeface="Consolas"/>
              </a:rPr>
              <a:t>  ANY @actor_id GRAPH "jobReferralGraph"</a:t>
            </a:r>
          </a:p>
          <a:p>
            <a:pPr algn="l">
              <a:lnSpc>
                <a:spcPct val="112000"/>
              </a:lnSpc>
              <a:spcBef>
                <a:spcPts val="0"/>
              </a:spcBef>
              <a:spcAft>
                <a:spcPts val="600"/>
              </a:spcAft>
            </a:pPr>
            <a:r>
              <a:rPr sz="2000" b="0">
                <a:solidFill>
                  <a:srgbClr val="123653"/>
                </a:solidFill>
                <a:latin typeface="Consolas"/>
              </a:rPr>
              <a:t>  PRUNE invalid = /* status + privacy */</a:t>
            </a:r>
          </a:p>
          <a:p>
            <a:pPr algn="l">
              <a:lnSpc>
                <a:spcPct val="112000"/>
              </a:lnSpc>
              <a:spcBef>
                <a:spcPts val="0"/>
              </a:spcBef>
              <a:spcAft>
                <a:spcPts val="600"/>
              </a:spcAft>
            </a:pPr>
            <a:r>
              <a:rPr sz="2000" b="0">
                <a:solidFill>
                  <a:srgbClr val="123653"/>
                </a:solidFill>
                <a:latin typeface="Consolas"/>
              </a:rPr>
              <a:t>  OPTIONS { edgeCollections: ["connections"],</a:t>
            </a:r>
          </a:p>
          <a:p>
            <a:pPr algn="l">
              <a:lnSpc>
                <a:spcPct val="112000"/>
              </a:lnSpc>
              <a:spcBef>
                <a:spcPts val="0"/>
              </a:spcBef>
              <a:spcAft>
                <a:spcPts val="600"/>
              </a:spcAft>
            </a:pPr>
            <a:r>
              <a:rPr sz="2000" b="0">
                <a:solidFill>
                  <a:srgbClr val="123653"/>
                </a:solidFill>
                <a:latin typeface="Consolas"/>
              </a:rPr>
              <a:t>            uniqueVertices: "path" }</a:t>
            </a:r>
          </a:p>
          <a:p>
            <a:pPr algn="l">
              <a:lnSpc>
                <a:spcPct val="112000"/>
              </a:lnSpc>
              <a:spcBef>
                <a:spcPts val="0"/>
              </a:spcBef>
              <a:spcAft>
                <a:spcPts val="600"/>
              </a:spcAft>
            </a:pPr>
            <a:r>
              <a:rPr sz="2000" b="0">
                <a:solidFill>
                  <a:srgbClr val="123653"/>
                </a:solidFill>
                <a:latin typeface="Consolas"/>
              </a:rPr>
              <a:t>  FILTER !invalid</a:t>
            </a:r>
          </a:p>
        </p:txBody>
      </p:sp>
      <p:sp>
        <p:nvSpPr>
          <p:cNvPr id="6" name="TextBox 5"/>
          <p:cNvSpPr txBox="1"/>
          <p:nvPr/>
        </p:nvSpPr>
        <p:spPr>
          <a:xfrm>
            <a:off x="7818120" y="2304288"/>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7" name="TextBox 6"/>
          <p:cNvSpPr txBox="1"/>
          <p:nvPr/>
        </p:nvSpPr>
        <p:spPr>
          <a:xfrm>
            <a:off x="8183880" y="2304288"/>
            <a:ext cx="3383279" cy="82296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Độ sâu ≤ 3</a:t>
            </a:r>
          </a:p>
        </p:txBody>
      </p:sp>
      <p:sp>
        <p:nvSpPr>
          <p:cNvPr id="8" name="TextBox 7"/>
          <p:cNvSpPr txBox="1"/>
          <p:nvPr/>
        </p:nvSpPr>
        <p:spPr>
          <a:xfrm>
            <a:off x="7818120" y="3218688"/>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9" name="TextBox 8"/>
          <p:cNvSpPr txBox="1"/>
          <p:nvPr/>
        </p:nvSpPr>
        <p:spPr>
          <a:xfrm>
            <a:off x="8183880" y="3218688"/>
            <a:ext cx="3383279" cy="82296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PRUNE nhánh sai</a:t>
            </a:r>
          </a:p>
        </p:txBody>
      </p:sp>
      <p:sp>
        <p:nvSpPr>
          <p:cNvPr id="10" name="TextBox 9"/>
          <p:cNvSpPr txBox="1"/>
          <p:nvPr/>
        </p:nvSpPr>
        <p:spPr>
          <a:xfrm>
            <a:off x="7818120" y="4133087"/>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11" name="TextBox 10"/>
          <p:cNvSpPr txBox="1"/>
          <p:nvPr/>
        </p:nvSpPr>
        <p:spPr>
          <a:xfrm>
            <a:off x="8183880" y="4133087"/>
            <a:ext cx="3383279" cy="82296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Giữ đường thay thế</a:t>
            </a:r>
          </a:p>
        </p:txBody>
      </p:sp>
      <p:sp>
        <p:nvSpPr>
          <p:cNvPr id="12" name="TextBox 11"/>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Đoạn AQL rút gọn; query đầy đủ còn kiểm tra block, privacy và employment.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XẾP HẠNG ĐƯỜNG GIỚI THIỆU</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11 / 20</a:t>
            </a:r>
          </a:p>
        </p:txBody>
      </p:sp>
      <p:sp>
        <p:nvSpPr>
          <p:cNvPr id="4" name="TextBox 3"/>
          <p:cNvSpPr txBox="1"/>
          <p:nvPr/>
        </p:nvSpPr>
        <p:spPr>
          <a:xfrm>
            <a:off x="640080" y="1901952"/>
            <a:ext cx="10881360" cy="658368"/>
          </a:xfrm>
          <a:prstGeom prst="rect">
            <a:avLst/>
          </a:prstGeom>
          <a:noFill/>
        </p:spPr>
        <p:txBody>
          <a:bodyPr wrap="square" lIns="0" rIns="0" tIns="0" bIns="36576">
            <a:spAutoFit/>
          </a:bodyPr>
          <a:lstStyle/>
          <a:p>
            <a:pPr algn="ctr">
              <a:lnSpc>
                <a:spcPct val="112000"/>
              </a:lnSpc>
              <a:spcBef>
                <a:spcPts val="0"/>
              </a:spcBef>
              <a:spcAft>
                <a:spcPts val="600"/>
              </a:spcAft>
            </a:pPr>
            <a:r>
              <a:rPr sz="2800" b="1">
                <a:solidFill>
                  <a:srgbClr val="005BAA"/>
                </a:solidFill>
                <a:latin typeface="Arial"/>
              </a:rPr>
              <a:t>Điểm đường = 60% × trust trung bình + 40% × (1 / hops)</a:t>
            </a:r>
          </a:p>
        </p:txBody>
      </p:sp>
      <p:sp>
        <p:nvSpPr>
          <p:cNvPr id="5" name="Rounded Rectangle 4"/>
          <p:cNvSpPr/>
          <p:nvPr/>
        </p:nvSpPr>
        <p:spPr>
          <a:xfrm>
            <a:off x="822960" y="3246120"/>
            <a:ext cx="3931920" cy="13716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300" b="1">
                <a:solidFill>
                  <a:srgbClr val="005BAA"/>
                </a:solidFill>
                <a:latin typeface="Arial"/>
              </a:rPr>
              <a:t>2 hops  •  trust = 0,85</a:t>
            </a:r>
          </a:p>
        </p:txBody>
      </p:sp>
      <p:cxnSp>
        <p:nvCxnSpPr>
          <p:cNvPr id="6" name="Connector 5"/>
          <p:cNvCxnSpPr/>
          <p:nvPr/>
        </p:nvCxnSpPr>
        <p:spPr>
          <a:xfrm>
            <a:off x="4754880" y="3931920"/>
            <a:ext cx="1005840"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989320" y="3090672"/>
            <a:ext cx="4937760" cy="150876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5100" b="1">
                <a:solidFill>
                  <a:srgbClr val="005BAA"/>
                </a:solidFill>
                <a:latin typeface="Arial"/>
              </a:rPr>
              <a:t>71 / 100</a:t>
            </a:r>
          </a:p>
        </p:txBody>
      </p:sp>
      <p:sp>
        <p:nvSpPr>
          <p:cNvPr id="8" name="TextBox 7"/>
          <p:cNvSpPr txBox="1"/>
          <p:nvPr/>
        </p:nvSpPr>
        <p:spPr>
          <a:xfrm>
            <a:off x="914400" y="5138928"/>
            <a:ext cx="10515600" cy="438912"/>
          </a:xfrm>
          <a:prstGeom prst="rect">
            <a:avLst/>
          </a:prstGeom>
          <a:noFill/>
        </p:spPr>
        <p:txBody>
          <a:bodyPr wrap="square" lIns="0" rIns="0" tIns="0" bIns="36576">
            <a:spAutoFit/>
          </a:bodyPr>
          <a:lstStyle/>
          <a:p>
            <a:pPr algn="ctr">
              <a:lnSpc>
                <a:spcPct val="112000"/>
              </a:lnSpc>
              <a:spcBef>
                <a:spcPts val="0"/>
              </a:spcBef>
              <a:spcAft>
                <a:spcPts val="600"/>
              </a:spcAft>
            </a:pPr>
            <a:r>
              <a:rPr sz="2300" b="0">
                <a:solidFill>
                  <a:srgbClr val="123653"/>
                </a:solidFill>
                <a:latin typeface="Arial"/>
              </a:rPr>
              <a:t>Cơ hội có đường: ưu tiên đủ điều kiện và điểm việc làm trước.</a:t>
            </a:r>
          </a:p>
        </p:txBody>
      </p:sp>
      <p:sp>
        <p:nvSpPr>
          <p:cNvPr id="9" name="TextBox 8"/>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Trust là độ tin cậy khai báo; điểm đường không phải tỷ lệ giới thiệu thành công.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SẢN PHẨM: GỢI Ý THEO HỒ SƠ</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12 / 20</a:t>
            </a:r>
          </a:p>
        </p:txBody>
      </p:sp>
      <p:pic>
        <p:nvPicPr>
          <p:cNvPr id="4" name="Picture 3" descr="recommendation-detail.png"/>
          <p:cNvPicPr>
            <a:picLocks noChangeAspect="1"/>
          </p:cNvPicPr>
          <p:nvPr/>
        </p:nvPicPr>
        <p:blipFill>
          <a:blip r:embed="rId3"/>
          <a:stretch>
            <a:fillRect/>
          </a:stretch>
        </p:blipFill>
        <p:spPr>
          <a:xfrm>
            <a:off x="502920" y="1820235"/>
            <a:ext cx="7498079" cy="4013056"/>
          </a:xfrm>
          <a:prstGeom prst="rect">
            <a:avLst/>
          </a:prstGeom>
        </p:spPr>
      </p:pic>
      <p:sp>
        <p:nvSpPr>
          <p:cNvPr id="5" name="TextBox 4"/>
          <p:cNvSpPr txBox="1"/>
          <p:nvPr/>
        </p:nvSpPr>
        <p:spPr>
          <a:xfrm>
            <a:off x="8247888" y="2167128"/>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6" name="TextBox 5"/>
          <p:cNvSpPr txBox="1"/>
          <p:nvPr/>
        </p:nvSpPr>
        <p:spPr>
          <a:xfrm>
            <a:off x="8613648" y="2167128"/>
            <a:ext cx="2926080" cy="9144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Điểm phù hợp</a:t>
            </a:r>
          </a:p>
        </p:txBody>
      </p:sp>
      <p:sp>
        <p:nvSpPr>
          <p:cNvPr id="7" name="TextBox 6"/>
          <p:cNvSpPr txBox="1"/>
          <p:nvPr/>
        </p:nvSpPr>
        <p:spPr>
          <a:xfrm>
            <a:off x="8247888" y="3172968"/>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8" name="TextBox 7"/>
          <p:cNvSpPr txBox="1"/>
          <p:nvPr/>
        </p:nvSpPr>
        <p:spPr>
          <a:xfrm>
            <a:off x="8613648" y="3172968"/>
            <a:ext cx="2926080" cy="9144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Kỹ năng khớp</a:t>
            </a:r>
          </a:p>
        </p:txBody>
      </p:sp>
      <p:sp>
        <p:nvSpPr>
          <p:cNvPr id="9" name="TextBox 8"/>
          <p:cNvSpPr txBox="1"/>
          <p:nvPr/>
        </p:nvSpPr>
        <p:spPr>
          <a:xfrm>
            <a:off x="8247888" y="4178808"/>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10" name="TextBox 9"/>
          <p:cNvSpPr txBox="1"/>
          <p:nvPr/>
        </p:nvSpPr>
        <p:spPr>
          <a:xfrm>
            <a:off x="8613648" y="4178808"/>
            <a:ext cx="2926080" cy="9144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Bộ lọc và phân trang</a:t>
            </a:r>
          </a:p>
        </p:txBody>
      </p:sp>
      <p:sp>
        <p:nvSpPr>
          <p:cNvPr id="11" name="TextBox 10"/>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Ảnh sản phẩm chạy với dữ liệu kiểm thử; kết quả đọc từ API/ArangoDB thật.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SẢN PHẨM: ĐƯỜNG KẾT NỐI</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13 / 20</a:t>
            </a:r>
          </a:p>
        </p:txBody>
      </p:sp>
      <p:pic>
        <p:nvPicPr>
          <p:cNvPr id="4" name="Picture 3" descr="paths.png"/>
          <p:cNvPicPr>
            <a:picLocks noChangeAspect="1"/>
          </p:cNvPicPr>
          <p:nvPr/>
        </p:nvPicPr>
        <p:blipFill>
          <a:blip r:embed="rId3"/>
          <a:stretch>
            <a:fillRect/>
          </a:stretch>
        </p:blipFill>
        <p:spPr>
          <a:xfrm>
            <a:off x="1710792" y="1746504"/>
            <a:ext cx="5082334" cy="4178808"/>
          </a:xfrm>
          <a:prstGeom prst="rect">
            <a:avLst/>
          </a:prstGeom>
        </p:spPr>
      </p:pic>
      <p:sp>
        <p:nvSpPr>
          <p:cNvPr id="5" name="TextBox 4"/>
          <p:cNvSpPr txBox="1"/>
          <p:nvPr/>
        </p:nvSpPr>
        <p:spPr>
          <a:xfrm>
            <a:off x="8247888" y="2176272"/>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6" name="TextBox 5"/>
          <p:cNvSpPr txBox="1"/>
          <p:nvPr/>
        </p:nvSpPr>
        <p:spPr>
          <a:xfrm>
            <a:off x="8613648" y="2176272"/>
            <a:ext cx="2926080" cy="9144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Graph từ AQL</a:t>
            </a:r>
          </a:p>
        </p:txBody>
      </p:sp>
      <p:sp>
        <p:nvSpPr>
          <p:cNvPr id="7" name="TextBox 6"/>
          <p:cNvSpPr txBox="1"/>
          <p:nvPr/>
        </p:nvSpPr>
        <p:spPr>
          <a:xfrm>
            <a:off x="8247888" y="3182112"/>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8" name="TextBox 7"/>
          <p:cNvSpPr txBox="1"/>
          <p:nvPr/>
        </p:nvSpPr>
        <p:spPr>
          <a:xfrm>
            <a:off x="8613648" y="3182112"/>
            <a:ext cx="2926080" cy="9144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Số bước + giải thích</a:t>
            </a:r>
          </a:p>
        </p:txBody>
      </p:sp>
      <p:sp>
        <p:nvSpPr>
          <p:cNvPr id="9" name="TextBox 8"/>
          <p:cNvSpPr txBox="1"/>
          <p:nvPr/>
        </p:nvSpPr>
        <p:spPr>
          <a:xfrm>
            <a:off x="8247888" y="4187952"/>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300" b="1">
                <a:solidFill>
                  <a:srgbClr val="005BAA"/>
                </a:solidFill>
                <a:latin typeface="Arial"/>
              </a:rPr>
              <a:t>•</a:t>
            </a:r>
          </a:p>
        </p:txBody>
      </p:sp>
      <p:sp>
        <p:nvSpPr>
          <p:cNvPr id="10" name="TextBox 9"/>
          <p:cNvSpPr txBox="1"/>
          <p:nvPr/>
        </p:nvSpPr>
        <p:spPr>
          <a:xfrm>
            <a:off x="8613648" y="4187952"/>
            <a:ext cx="2926080" cy="9144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Gửi yêu cầu giới thiệu</a:t>
            </a:r>
          </a:p>
        </p:txBody>
      </p:sp>
      <p:sp>
        <p:nvSpPr>
          <p:cNvPr id="11" name="TextBox 10"/>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React Flow hiển thị đường; ArangoDB tìm đường và kiểm tra quan hệ.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QUY TRÌNH GIỚI THIỆU</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14 / 20</a:t>
            </a:r>
          </a:p>
        </p:txBody>
      </p:sp>
      <p:sp>
        <p:nvSpPr>
          <p:cNvPr id="4" name="Rounded Rectangle 3"/>
          <p:cNvSpPr/>
          <p:nvPr/>
        </p:nvSpPr>
        <p:spPr>
          <a:xfrm>
            <a:off x="548640" y="2468880"/>
            <a:ext cx="2194560" cy="13716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200" b="1">
                <a:solidFill>
                  <a:srgbClr val="005BAA"/>
                </a:solidFill>
                <a:latin typeface="Arial"/>
              </a:rPr>
              <a:t>pending</a:t>
            </a:r>
          </a:p>
          <a:p>
            <a:pPr algn="ctr">
              <a:lnSpc>
                <a:spcPct val="112000"/>
              </a:lnSpc>
              <a:spcBef>
                <a:spcPts val="0"/>
              </a:spcBef>
              <a:spcAft>
                <a:spcPts val="600"/>
              </a:spcAft>
            </a:pPr>
            <a:r>
              <a:rPr sz="2200" b="1">
                <a:solidFill>
                  <a:srgbClr val="005BAA"/>
                </a:solidFill>
                <a:latin typeface="Arial"/>
              </a:rPr>
              <a:t>Gửi yêu cầu</a:t>
            </a:r>
          </a:p>
        </p:txBody>
      </p:sp>
      <p:sp>
        <p:nvSpPr>
          <p:cNvPr id="5" name="Rounded Rectangle 4"/>
          <p:cNvSpPr/>
          <p:nvPr/>
        </p:nvSpPr>
        <p:spPr>
          <a:xfrm>
            <a:off x="3520440" y="2468880"/>
            <a:ext cx="2194560" cy="13716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200" b="1">
                <a:solidFill>
                  <a:srgbClr val="005BAA"/>
                </a:solidFill>
                <a:latin typeface="Arial"/>
              </a:rPr>
              <a:t>accepted</a:t>
            </a:r>
          </a:p>
          <a:p>
            <a:pPr algn="ctr">
              <a:lnSpc>
                <a:spcPct val="112000"/>
              </a:lnSpc>
              <a:spcBef>
                <a:spcPts val="0"/>
              </a:spcBef>
              <a:spcAft>
                <a:spcPts val="600"/>
              </a:spcAft>
            </a:pPr>
            <a:r>
              <a:rPr sz="2200" b="1">
                <a:solidFill>
                  <a:srgbClr val="005BAA"/>
                </a:solidFill>
                <a:latin typeface="Arial"/>
              </a:rPr>
              <a:t>Chấp nhận</a:t>
            </a:r>
          </a:p>
        </p:txBody>
      </p:sp>
      <p:sp>
        <p:nvSpPr>
          <p:cNvPr id="6" name="Rounded Rectangle 5"/>
          <p:cNvSpPr/>
          <p:nvPr/>
        </p:nvSpPr>
        <p:spPr>
          <a:xfrm>
            <a:off x="6492240" y="2468880"/>
            <a:ext cx="2194560" cy="13716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200" b="1">
                <a:solidFill>
                  <a:srgbClr val="005BAA"/>
                </a:solidFill>
                <a:latin typeface="Arial"/>
              </a:rPr>
              <a:t>submitted</a:t>
            </a:r>
          </a:p>
          <a:p>
            <a:pPr algn="ctr">
              <a:lnSpc>
                <a:spcPct val="112000"/>
              </a:lnSpc>
              <a:spcBef>
                <a:spcPts val="0"/>
              </a:spcBef>
              <a:spcAft>
                <a:spcPts val="600"/>
              </a:spcAft>
            </a:pPr>
            <a:r>
              <a:rPr sz="2200" b="1">
                <a:solidFill>
                  <a:srgbClr val="005BAA"/>
                </a:solidFill>
                <a:latin typeface="Arial"/>
              </a:rPr>
              <a:t>Xác nhận đã gửi</a:t>
            </a:r>
          </a:p>
        </p:txBody>
      </p:sp>
      <p:sp>
        <p:nvSpPr>
          <p:cNvPr id="7" name="Rounded Rectangle 6"/>
          <p:cNvSpPr/>
          <p:nvPr/>
        </p:nvSpPr>
        <p:spPr>
          <a:xfrm>
            <a:off x="9464040" y="2468880"/>
            <a:ext cx="2194560" cy="137160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2200" b="1">
                <a:solidFill>
                  <a:srgbClr val="005BAA"/>
                </a:solidFill>
                <a:latin typeface="Arial"/>
              </a:rPr>
              <a:t>completed</a:t>
            </a:r>
          </a:p>
          <a:p>
            <a:pPr algn="ctr">
              <a:lnSpc>
                <a:spcPct val="112000"/>
              </a:lnSpc>
              <a:spcBef>
                <a:spcPts val="0"/>
              </a:spcBef>
              <a:spcAft>
                <a:spcPts val="600"/>
              </a:spcAft>
            </a:pPr>
            <a:r>
              <a:rPr sz="2200" b="1">
                <a:solidFill>
                  <a:srgbClr val="005BAA"/>
                </a:solidFill>
                <a:latin typeface="Arial"/>
              </a:rPr>
              <a:t>Hoàn tất</a:t>
            </a:r>
          </a:p>
        </p:txBody>
      </p:sp>
      <p:cxnSp>
        <p:nvCxnSpPr>
          <p:cNvPr id="8" name="Connector 7"/>
          <p:cNvCxnSpPr/>
          <p:nvPr/>
        </p:nvCxnSpPr>
        <p:spPr>
          <a:xfrm>
            <a:off x="2743200" y="3154680"/>
            <a:ext cx="74980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715000" y="3154680"/>
            <a:ext cx="74980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686800" y="3154680"/>
            <a:ext cx="749808" cy="0"/>
          </a:xfrm>
          <a:prstGeom prst="line">
            <a:avLst/>
          </a:prstGeom>
          <a:ln w="25400">
            <a:solidFill>
              <a:srgbClr val="005BAA"/>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68680" y="4343400"/>
            <a:ext cx="10424160" cy="566928"/>
          </a:xfrm>
          <a:prstGeom prst="rect">
            <a:avLst/>
          </a:prstGeom>
          <a:noFill/>
        </p:spPr>
        <p:txBody>
          <a:bodyPr wrap="square" lIns="0" rIns="0" tIns="0" bIns="36576">
            <a:spAutoFit/>
          </a:bodyPr>
          <a:lstStyle/>
          <a:p>
            <a:pPr algn="ctr">
              <a:lnSpc>
                <a:spcPct val="112000"/>
              </a:lnSpc>
              <a:spcBef>
                <a:spcPts val="0"/>
              </a:spcBef>
              <a:spcAft>
                <a:spcPts val="600"/>
              </a:spcAft>
            </a:pPr>
            <a:r>
              <a:rPr sz="2500" b="0">
                <a:solidFill>
                  <a:srgbClr val="123653"/>
                </a:solidFill>
                <a:latin typeface="Arial"/>
              </a:rPr>
              <a:t>Có nhánh từ chối / hủy / hết hạn theo trạng thái và quyền.</a:t>
            </a:r>
          </a:p>
        </p:txBody>
      </p:sp>
      <p:sp>
        <p:nvSpPr>
          <p:cNvPr id="12" name="TextBox 11"/>
          <p:cNvSpPr txBox="1"/>
          <p:nvPr/>
        </p:nvSpPr>
        <p:spPr>
          <a:xfrm>
            <a:off x="868680" y="5074920"/>
            <a:ext cx="10424160" cy="457200"/>
          </a:xfrm>
          <a:prstGeom prst="rect">
            <a:avLst/>
          </a:prstGeom>
          <a:noFill/>
        </p:spPr>
        <p:txBody>
          <a:bodyPr wrap="square" lIns="0" rIns="0" tIns="0" bIns="36576">
            <a:spAutoFit/>
          </a:bodyPr>
          <a:lstStyle/>
          <a:p>
            <a:pPr algn="ctr">
              <a:lnSpc>
                <a:spcPct val="112000"/>
              </a:lnSpc>
              <a:spcBef>
                <a:spcPts val="0"/>
              </a:spcBef>
              <a:spcAft>
                <a:spcPts val="600"/>
              </a:spcAft>
            </a:pPr>
            <a:r>
              <a:rPr sz="2400" b="1">
                <a:solidFill>
                  <a:srgbClr val="005BAA"/>
                </a:solidFill>
                <a:latin typeface="Arial"/>
              </a:rPr>
              <a:t>Transaction + kiểm tra lại đường + chống gửi trùng</a:t>
            </a:r>
          </a:p>
        </p:txBody>
      </p:sp>
      <p:sp>
        <p:nvSpPr>
          <p:cNvPr id="13" name="TextBox 12"/>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MVP lưu xác nhận / mã bằng chứng; chưa tích hợp email, tải CV hoặc ATS.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CHỨNG MINH ARANGODB THỰC SỰ THAM GIA</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15 / 20</a:t>
            </a:r>
          </a:p>
        </p:txBody>
      </p:sp>
      <p:sp>
        <p:nvSpPr>
          <p:cNvPr id="4" name="Rounded Rectangle 3"/>
          <p:cNvSpPr/>
          <p:nvPr/>
        </p:nvSpPr>
        <p:spPr>
          <a:xfrm>
            <a:off x="640080" y="1874519"/>
            <a:ext cx="3931920" cy="749808"/>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300" b="1">
                <a:solidFill>
                  <a:srgbClr val="005BAA"/>
                </a:solidFill>
                <a:latin typeface="Arial"/>
              </a:rPr>
              <a:t>Chặn cạnh B–C</a:t>
            </a:r>
          </a:p>
        </p:txBody>
      </p:sp>
      <p:sp>
        <p:nvSpPr>
          <p:cNvPr id="5" name="TextBox 4"/>
          <p:cNvSpPr txBox="1"/>
          <p:nvPr/>
        </p:nvSpPr>
        <p:spPr>
          <a:xfrm>
            <a:off x="4864608" y="1956815"/>
            <a:ext cx="6492240" cy="6858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Đường 2 bước mất; còn đường 3 bước.</a:t>
            </a:r>
          </a:p>
        </p:txBody>
      </p:sp>
      <p:sp>
        <p:nvSpPr>
          <p:cNvPr id="6" name="Rounded Rectangle 5"/>
          <p:cNvSpPr/>
          <p:nvPr/>
        </p:nvSpPr>
        <p:spPr>
          <a:xfrm>
            <a:off x="640080" y="2816352"/>
            <a:ext cx="3931920" cy="749808"/>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300" b="1">
                <a:solidFill>
                  <a:srgbClr val="005BAA"/>
                </a:solidFill>
                <a:latin typeface="Arial"/>
              </a:rPr>
              <a:t>B tắt quyền chia sẻ</a:t>
            </a:r>
          </a:p>
        </p:txBody>
      </p:sp>
      <p:sp>
        <p:nvSpPr>
          <p:cNvPr id="7" name="TextBox 6"/>
          <p:cNvSpPr txBox="1"/>
          <p:nvPr/>
        </p:nvSpPr>
        <p:spPr>
          <a:xfrm>
            <a:off x="4864608" y="2898648"/>
            <a:ext cx="6492240" cy="6858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Nhánh qua B bị loại.</a:t>
            </a:r>
          </a:p>
        </p:txBody>
      </p:sp>
      <p:sp>
        <p:nvSpPr>
          <p:cNvPr id="8" name="Rounded Rectangle 7"/>
          <p:cNvSpPr/>
          <p:nvPr/>
        </p:nvSpPr>
        <p:spPr>
          <a:xfrm>
            <a:off x="640080" y="3758183"/>
            <a:ext cx="3931920" cy="749808"/>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300" b="1">
                <a:solidFill>
                  <a:srgbClr val="005BAA"/>
                </a:solidFill>
                <a:latin typeface="Arial"/>
              </a:rPr>
              <a:t>C chưa xác minh employment</a:t>
            </a:r>
          </a:p>
        </p:txBody>
      </p:sp>
      <p:sp>
        <p:nvSpPr>
          <p:cNvPr id="9" name="TextBox 8"/>
          <p:cNvSpPr txBox="1"/>
          <p:nvPr/>
        </p:nvSpPr>
        <p:spPr>
          <a:xfrm>
            <a:off x="4864608" y="3840479"/>
            <a:ext cx="6492240" cy="6858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Không còn đường hợp lệ.</a:t>
            </a:r>
          </a:p>
        </p:txBody>
      </p:sp>
      <p:sp>
        <p:nvSpPr>
          <p:cNvPr id="10" name="Rounded Rectangle 9"/>
          <p:cNvSpPr/>
          <p:nvPr/>
        </p:nvSpPr>
        <p:spPr>
          <a:xfrm>
            <a:off x="640080" y="4700016"/>
            <a:ext cx="3931920" cy="749808"/>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300" b="1">
                <a:solidFill>
                  <a:srgbClr val="005BAA"/>
                </a:solidFill>
                <a:latin typeface="Arial"/>
              </a:rPr>
              <a:t>Audit sai schema trong transaction</a:t>
            </a:r>
          </a:p>
        </p:txBody>
      </p:sp>
      <p:sp>
        <p:nvSpPr>
          <p:cNvPr id="11" name="TextBox 10"/>
          <p:cNvSpPr txBox="1"/>
          <p:nvPr/>
        </p:nvSpPr>
        <p:spPr>
          <a:xfrm>
            <a:off x="4864608" y="4782312"/>
            <a:ext cx="6492240" cy="68580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Notification trước đó rollback.</a:t>
            </a:r>
          </a:p>
        </p:txBody>
      </p:sp>
      <p:sp>
        <p:nvSpPr>
          <p:cNvPr id="12" name="TextBox 11"/>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EXPLAIN có TraversalNode và IndexNode; bằng chứng trên database kiểm thử riêng.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KẾT QUẢ KIỂM THỬ</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16 / 20</a:t>
            </a:r>
          </a:p>
        </p:txBody>
      </p:sp>
      <p:sp>
        <p:nvSpPr>
          <p:cNvPr id="4" name="Rounded Rectangle 3"/>
          <p:cNvSpPr/>
          <p:nvPr/>
        </p:nvSpPr>
        <p:spPr>
          <a:xfrm>
            <a:off x="548640"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5" name="TextBox 4"/>
          <p:cNvSpPr txBox="1"/>
          <p:nvPr/>
        </p:nvSpPr>
        <p:spPr>
          <a:xfrm>
            <a:off x="731520"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167 / 167</a:t>
            </a:r>
          </a:p>
        </p:txBody>
      </p:sp>
      <p:sp>
        <p:nvSpPr>
          <p:cNvPr id="6" name="TextBox 5"/>
          <p:cNvSpPr txBox="1"/>
          <p:nvPr/>
        </p:nvSpPr>
        <p:spPr>
          <a:xfrm>
            <a:off x="731520"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Python integration</a:t>
            </a:r>
          </a:p>
          <a:p>
            <a:pPr algn="l">
              <a:lnSpc>
                <a:spcPct val="112000"/>
              </a:lnSpc>
              <a:spcBef>
                <a:spcPts val="0"/>
              </a:spcBef>
              <a:spcAft>
                <a:spcPts val="600"/>
              </a:spcAft>
            </a:pPr>
            <a:r>
              <a:rPr sz="2300" b="0">
                <a:solidFill>
                  <a:srgbClr val="123653"/>
                </a:solidFill>
                <a:latin typeface="Arial"/>
              </a:rPr>
              <a:t>ArangoDB thật.</a:t>
            </a:r>
          </a:p>
        </p:txBody>
      </p:sp>
      <p:sp>
        <p:nvSpPr>
          <p:cNvPr id="7" name="Rounded Rectangle 6"/>
          <p:cNvSpPr/>
          <p:nvPr/>
        </p:nvSpPr>
        <p:spPr>
          <a:xfrm>
            <a:off x="4315968"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8" name="TextBox 7"/>
          <p:cNvSpPr txBox="1"/>
          <p:nvPr/>
        </p:nvSpPr>
        <p:spPr>
          <a:xfrm>
            <a:off x="4498848"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20 / 20</a:t>
            </a:r>
          </a:p>
        </p:txBody>
      </p:sp>
      <p:sp>
        <p:nvSpPr>
          <p:cNvPr id="9" name="TextBox 8"/>
          <p:cNvSpPr txBox="1"/>
          <p:nvPr/>
        </p:nvSpPr>
        <p:spPr>
          <a:xfrm>
            <a:off x="4498848"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Browser end-to-end</a:t>
            </a:r>
          </a:p>
          <a:p>
            <a:pPr algn="l">
              <a:lnSpc>
                <a:spcPct val="112000"/>
              </a:lnSpc>
              <a:spcBef>
                <a:spcPts val="0"/>
              </a:spcBef>
              <a:spcAft>
                <a:spcPts val="600"/>
              </a:spcAft>
            </a:pPr>
            <a:r>
              <a:rPr sz="2300" b="0">
                <a:solidFill>
                  <a:srgbClr val="123653"/>
                </a:solidFill>
                <a:latin typeface="Arial"/>
              </a:rPr>
              <a:t>HTTP backend thật.</a:t>
            </a:r>
          </a:p>
        </p:txBody>
      </p:sp>
      <p:sp>
        <p:nvSpPr>
          <p:cNvPr id="10" name="Rounded Rectangle 9"/>
          <p:cNvSpPr/>
          <p:nvPr/>
        </p:nvSpPr>
        <p:spPr>
          <a:xfrm>
            <a:off x="8083296"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11" name="TextBox 10"/>
          <p:cNvSpPr txBox="1"/>
          <p:nvPr/>
        </p:nvSpPr>
        <p:spPr>
          <a:xfrm>
            <a:off x="8266175"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21 / 21</a:t>
            </a:r>
          </a:p>
        </p:txBody>
      </p:sp>
      <p:sp>
        <p:nvSpPr>
          <p:cNvPr id="12" name="TextBox 11"/>
          <p:cNvSpPr txBox="1"/>
          <p:nvPr/>
        </p:nvSpPr>
        <p:spPr>
          <a:xfrm>
            <a:off x="8266175"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Graph / index / rollback</a:t>
            </a:r>
          </a:p>
          <a:p>
            <a:pPr algn="l">
              <a:lnSpc>
                <a:spcPct val="112000"/>
              </a:lnSpc>
              <a:spcBef>
                <a:spcPts val="0"/>
              </a:spcBef>
              <a:spcAft>
                <a:spcPts val="600"/>
              </a:spcAft>
            </a:pPr>
            <a:r>
              <a:rPr sz="2300" b="0">
                <a:solidFill>
                  <a:srgbClr val="123653"/>
                </a:solidFill>
                <a:latin typeface="Arial"/>
              </a:rPr>
              <a:t>Bộ kiểm tra chuyên sâu.</a:t>
            </a:r>
          </a:p>
        </p:txBody>
      </p:sp>
      <p:sp>
        <p:nvSpPr>
          <p:cNvPr id="13" name="TextBox 12"/>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Artifact ngày 12/10/2026; các bộ có thể chồng lặp, không cộng số ca.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HIỆU NĂNG: KẾT QUẢ LOCAL</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17 / 20</a:t>
            </a:r>
          </a:p>
        </p:txBody>
      </p:sp>
      <p:sp>
        <p:nvSpPr>
          <p:cNvPr id="4" name="TextBox 3"/>
          <p:cNvSpPr txBox="1"/>
          <p:nvPr/>
        </p:nvSpPr>
        <p:spPr>
          <a:xfrm>
            <a:off x="685800" y="2011680"/>
            <a:ext cx="3246120" cy="658368"/>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Matching việc làm</a:t>
            </a:r>
          </a:p>
        </p:txBody>
      </p:sp>
      <p:sp>
        <p:nvSpPr>
          <p:cNvPr id="5" name="Rectangle 4"/>
          <p:cNvSpPr/>
          <p:nvPr/>
        </p:nvSpPr>
        <p:spPr>
          <a:xfrm>
            <a:off x="4069080" y="2057400"/>
            <a:ext cx="152318" cy="502920"/>
          </a:xfrm>
          <a:prstGeom prst="rect">
            <a:avLst/>
          </a:prstGeom>
          <a:solidFill>
            <a:srgbClr val="00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321982" y="2020824"/>
            <a:ext cx="1828800" cy="502920"/>
          </a:xfrm>
          <a:prstGeom prst="rect">
            <a:avLst/>
          </a:prstGeom>
          <a:noFill/>
        </p:spPr>
        <p:txBody>
          <a:bodyPr wrap="square" lIns="0" rIns="0" tIns="0" bIns="36576">
            <a:spAutoFit/>
          </a:bodyPr>
          <a:lstStyle/>
          <a:p>
            <a:pPr algn="l">
              <a:lnSpc>
                <a:spcPct val="112000"/>
              </a:lnSpc>
              <a:spcBef>
                <a:spcPts val="0"/>
              </a:spcBef>
              <a:spcAft>
                <a:spcPts val="600"/>
              </a:spcAft>
            </a:pPr>
            <a:r>
              <a:rPr sz="2100" b="1">
                <a:solidFill>
                  <a:srgbClr val="005BAA"/>
                </a:solidFill>
                <a:latin typeface="Arial"/>
              </a:rPr>
              <a:t>14,5 ms</a:t>
            </a:r>
          </a:p>
        </p:txBody>
      </p:sp>
      <p:sp>
        <p:nvSpPr>
          <p:cNvPr id="7" name="TextBox 6"/>
          <p:cNvSpPr txBox="1"/>
          <p:nvPr/>
        </p:nvSpPr>
        <p:spPr>
          <a:xfrm>
            <a:off x="685800" y="3108960"/>
            <a:ext cx="3246120" cy="658368"/>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Đường kết nối · 3 hops</a:t>
            </a:r>
          </a:p>
        </p:txBody>
      </p:sp>
      <p:sp>
        <p:nvSpPr>
          <p:cNvPr id="8" name="Rectangle 7"/>
          <p:cNvSpPr/>
          <p:nvPr/>
        </p:nvSpPr>
        <p:spPr>
          <a:xfrm>
            <a:off x="4069080" y="3154680"/>
            <a:ext cx="4087424" cy="502920"/>
          </a:xfrm>
          <a:prstGeom prst="rect">
            <a:avLst/>
          </a:prstGeom>
          <a:solidFill>
            <a:srgbClr val="00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57088" y="3118104"/>
            <a:ext cx="1828800" cy="502920"/>
          </a:xfrm>
          <a:prstGeom prst="rect">
            <a:avLst/>
          </a:prstGeom>
          <a:noFill/>
        </p:spPr>
        <p:txBody>
          <a:bodyPr wrap="square" lIns="0" rIns="0" tIns="0" bIns="36576">
            <a:spAutoFit/>
          </a:bodyPr>
          <a:lstStyle/>
          <a:p>
            <a:pPr algn="l">
              <a:lnSpc>
                <a:spcPct val="112000"/>
              </a:lnSpc>
              <a:spcBef>
                <a:spcPts val="0"/>
              </a:spcBef>
              <a:spcAft>
                <a:spcPts val="600"/>
              </a:spcAft>
            </a:pPr>
            <a:r>
              <a:rPr sz="2100" b="1">
                <a:solidFill>
                  <a:srgbClr val="005BAA"/>
                </a:solidFill>
                <a:latin typeface="Arial"/>
              </a:rPr>
              <a:t>388,7 ms</a:t>
            </a:r>
          </a:p>
        </p:txBody>
      </p:sp>
      <p:sp>
        <p:nvSpPr>
          <p:cNvPr id="10" name="TextBox 9"/>
          <p:cNvSpPr txBox="1"/>
          <p:nvPr/>
        </p:nvSpPr>
        <p:spPr>
          <a:xfrm>
            <a:off x="685800" y="4206240"/>
            <a:ext cx="3246120" cy="658368"/>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Job + đường giới thiệu</a:t>
            </a:r>
          </a:p>
        </p:txBody>
      </p:sp>
      <p:sp>
        <p:nvSpPr>
          <p:cNvPr id="11" name="Rectangle 10"/>
          <p:cNvSpPr/>
          <p:nvPr/>
        </p:nvSpPr>
        <p:spPr>
          <a:xfrm>
            <a:off x="4069080" y="4251959"/>
            <a:ext cx="6103979" cy="502920"/>
          </a:xfrm>
          <a:prstGeom prst="rect">
            <a:avLst/>
          </a:prstGeom>
          <a:solidFill>
            <a:srgbClr val="005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73643" y="4215383"/>
            <a:ext cx="1828800" cy="502920"/>
          </a:xfrm>
          <a:prstGeom prst="rect">
            <a:avLst/>
          </a:prstGeom>
          <a:noFill/>
        </p:spPr>
        <p:txBody>
          <a:bodyPr wrap="square" lIns="0" rIns="0" tIns="0" bIns="36576">
            <a:spAutoFit/>
          </a:bodyPr>
          <a:lstStyle/>
          <a:p>
            <a:pPr algn="l">
              <a:lnSpc>
                <a:spcPct val="112000"/>
              </a:lnSpc>
              <a:spcBef>
                <a:spcPts val="0"/>
              </a:spcBef>
              <a:spcAft>
                <a:spcPts val="600"/>
              </a:spcAft>
            </a:pPr>
            <a:r>
              <a:rPr sz="2100" b="1">
                <a:solidFill>
                  <a:srgbClr val="005BAA"/>
                </a:solidFill>
                <a:latin typeface="Arial"/>
              </a:rPr>
              <a:t>580,5 ms</a:t>
            </a:r>
          </a:p>
        </p:txBody>
      </p:sp>
      <p:sp>
        <p:nvSpPr>
          <p:cNvPr id="13" name="TextBox 12"/>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p95 · 20 lần/query · synthetic · tuần tự · local; chưa là kiểm thử tải production.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DEMO SẢN PHẨM: 4 BƯỚC</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18 / 20</a:t>
            </a:r>
          </a:p>
        </p:txBody>
      </p:sp>
      <p:sp>
        <p:nvSpPr>
          <p:cNvPr id="4" name="Rounded Rectangle 3"/>
          <p:cNvSpPr/>
          <p:nvPr/>
        </p:nvSpPr>
        <p:spPr>
          <a:xfrm>
            <a:off x="713232" y="1901952"/>
            <a:ext cx="1005840" cy="731520"/>
          </a:xfrm>
          <a:prstGeom prst="roundRect">
            <a:avLst/>
          </a:prstGeom>
          <a:solidFill>
            <a:srgbClr val="005BA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3200" b="1">
                <a:solidFill>
                  <a:srgbClr val="FFFFFF"/>
                </a:solidFill>
                <a:latin typeface="Arial"/>
              </a:rPr>
              <a:t>01</a:t>
            </a:r>
          </a:p>
        </p:txBody>
      </p:sp>
      <p:sp>
        <p:nvSpPr>
          <p:cNvPr id="5" name="TextBox 4"/>
          <p:cNvSpPr txBox="1"/>
          <p:nvPr/>
        </p:nvSpPr>
        <p:spPr>
          <a:xfrm>
            <a:off x="1920240" y="1975104"/>
            <a:ext cx="9144000" cy="658368"/>
          </a:xfrm>
          <a:prstGeom prst="rect">
            <a:avLst/>
          </a:prstGeom>
          <a:noFill/>
        </p:spPr>
        <p:txBody>
          <a:bodyPr wrap="square" lIns="0" rIns="0" tIns="0" bIns="36576">
            <a:spAutoFit/>
          </a:bodyPr>
          <a:lstStyle/>
          <a:p>
            <a:pPr algn="l">
              <a:lnSpc>
                <a:spcPct val="112000"/>
              </a:lnSpc>
              <a:spcBef>
                <a:spcPts val="0"/>
              </a:spcBef>
              <a:spcAft>
                <a:spcPts val="600"/>
              </a:spcAft>
            </a:pPr>
            <a:r>
              <a:rPr sz="2800" b="0">
                <a:solidFill>
                  <a:srgbClr val="123653"/>
                </a:solidFill>
                <a:latin typeface="Arial"/>
              </a:rPr>
              <a:t>Lưu hồ sơ + kỹ năng</a:t>
            </a:r>
          </a:p>
        </p:txBody>
      </p:sp>
      <p:sp>
        <p:nvSpPr>
          <p:cNvPr id="6" name="Rounded Rectangle 5"/>
          <p:cNvSpPr/>
          <p:nvPr/>
        </p:nvSpPr>
        <p:spPr>
          <a:xfrm>
            <a:off x="713232" y="2843784"/>
            <a:ext cx="1005840" cy="731520"/>
          </a:xfrm>
          <a:prstGeom prst="roundRect">
            <a:avLst/>
          </a:prstGeom>
          <a:solidFill>
            <a:srgbClr val="005BA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3200" b="1">
                <a:solidFill>
                  <a:srgbClr val="FFFFFF"/>
                </a:solidFill>
                <a:latin typeface="Arial"/>
              </a:rPr>
              <a:t>02</a:t>
            </a:r>
          </a:p>
        </p:txBody>
      </p:sp>
      <p:sp>
        <p:nvSpPr>
          <p:cNvPr id="7" name="TextBox 6"/>
          <p:cNvSpPr txBox="1"/>
          <p:nvPr/>
        </p:nvSpPr>
        <p:spPr>
          <a:xfrm>
            <a:off x="1920240" y="2916936"/>
            <a:ext cx="9144000" cy="658368"/>
          </a:xfrm>
          <a:prstGeom prst="rect">
            <a:avLst/>
          </a:prstGeom>
          <a:noFill/>
        </p:spPr>
        <p:txBody>
          <a:bodyPr wrap="square" lIns="0" rIns="0" tIns="0" bIns="36576">
            <a:spAutoFit/>
          </a:bodyPr>
          <a:lstStyle/>
          <a:p>
            <a:pPr algn="l">
              <a:lnSpc>
                <a:spcPct val="112000"/>
              </a:lnSpc>
              <a:spcBef>
                <a:spcPts val="0"/>
              </a:spcBef>
              <a:spcAft>
                <a:spcPts val="600"/>
              </a:spcAft>
            </a:pPr>
            <a:r>
              <a:rPr sz="2800" b="0">
                <a:solidFill>
                  <a:srgbClr val="123653"/>
                </a:solidFill>
                <a:latin typeface="Arial"/>
              </a:rPr>
              <a:t>Xem việc được gợi ý</a:t>
            </a:r>
          </a:p>
        </p:txBody>
      </p:sp>
      <p:sp>
        <p:nvSpPr>
          <p:cNvPr id="8" name="Rounded Rectangle 7"/>
          <p:cNvSpPr/>
          <p:nvPr/>
        </p:nvSpPr>
        <p:spPr>
          <a:xfrm>
            <a:off x="713232" y="3785616"/>
            <a:ext cx="1005840" cy="731520"/>
          </a:xfrm>
          <a:prstGeom prst="roundRect">
            <a:avLst/>
          </a:prstGeom>
          <a:solidFill>
            <a:srgbClr val="005BA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3200" b="1">
                <a:solidFill>
                  <a:srgbClr val="FFFFFF"/>
                </a:solidFill>
                <a:latin typeface="Arial"/>
              </a:rPr>
              <a:t>03</a:t>
            </a:r>
          </a:p>
        </p:txBody>
      </p:sp>
      <p:sp>
        <p:nvSpPr>
          <p:cNvPr id="9" name="TextBox 8"/>
          <p:cNvSpPr txBox="1"/>
          <p:nvPr/>
        </p:nvSpPr>
        <p:spPr>
          <a:xfrm>
            <a:off x="1920240" y="3858768"/>
            <a:ext cx="9144000" cy="658368"/>
          </a:xfrm>
          <a:prstGeom prst="rect">
            <a:avLst/>
          </a:prstGeom>
          <a:noFill/>
        </p:spPr>
        <p:txBody>
          <a:bodyPr wrap="square" lIns="0" rIns="0" tIns="0" bIns="36576">
            <a:spAutoFit/>
          </a:bodyPr>
          <a:lstStyle/>
          <a:p>
            <a:pPr algn="l">
              <a:lnSpc>
                <a:spcPct val="112000"/>
              </a:lnSpc>
              <a:spcBef>
                <a:spcPts val="0"/>
              </a:spcBef>
              <a:spcAft>
                <a:spcPts val="600"/>
              </a:spcAft>
            </a:pPr>
            <a:r>
              <a:rPr sz="2800" b="0">
                <a:solidFill>
                  <a:srgbClr val="123653"/>
                </a:solidFill>
                <a:latin typeface="Arial"/>
              </a:rPr>
              <a:t>Tìm đường A → B → C</a:t>
            </a:r>
          </a:p>
        </p:txBody>
      </p:sp>
      <p:sp>
        <p:nvSpPr>
          <p:cNvPr id="10" name="Rounded Rectangle 9"/>
          <p:cNvSpPr/>
          <p:nvPr/>
        </p:nvSpPr>
        <p:spPr>
          <a:xfrm>
            <a:off x="713232" y="4727448"/>
            <a:ext cx="1005840" cy="731520"/>
          </a:xfrm>
          <a:prstGeom prst="roundRect">
            <a:avLst/>
          </a:prstGeom>
          <a:solidFill>
            <a:srgbClr val="005BA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ctr">
              <a:lnSpc>
                <a:spcPct val="112000"/>
              </a:lnSpc>
              <a:spcBef>
                <a:spcPts val="0"/>
              </a:spcBef>
              <a:spcAft>
                <a:spcPts val="600"/>
              </a:spcAft>
            </a:pPr>
            <a:r>
              <a:rPr sz="3200" b="1">
                <a:solidFill>
                  <a:srgbClr val="FFFFFF"/>
                </a:solidFill>
                <a:latin typeface="Arial"/>
              </a:rPr>
              <a:t>04</a:t>
            </a:r>
          </a:p>
        </p:txBody>
      </p:sp>
      <p:sp>
        <p:nvSpPr>
          <p:cNvPr id="11" name="TextBox 10"/>
          <p:cNvSpPr txBox="1"/>
          <p:nvPr/>
        </p:nvSpPr>
        <p:spPr>
          <a:xfrm>
            <a:off x="1920240" y="4800600"/>
            <a:ext cx="9144000" cy="658368"/>
          </a:xfrm>
          <a:prstGeom prst="rect">
            <a:avLst/>
          </a:prstGeom>
          <a:noFill/>
        </p:spPr>
        <p:txBody>
          <a:bodyPr wrap="square" lIns="0" rIns="0" tIns="0" bIns="36576">
            <a:spAutoFit/>
          </a:bodyPr>
          <a:lstStyle/>
          <a:p>
            <a:pPr algn="l">
              <a:lnSpc>
                <a:spcPct val="112000"/>
              </a:lnSpc>
              <a:spcBef>
                <a:spcPts val="0"/>
              </a:spcBef>
              <a:spcAft>
                <a:spcPts val="600"/>
              </a:spcAft>
            </a:pPr>
            <a:r>
              <a:rPr sz="2800" b="0">
                <a:solidFill>
                  <a:srgbClr val="123653"/>
                </a:solidFill>
                <a:latin typeface="Arial"/>
              </a:rPr>
              <a:t>Gửi → xử lý referral</a:t>
            </a:r>
          </a:p>
        </p:txBody>
      </p:sp>
      <p:sp>
        <p:nvSpPr>
          <p:cNvPr id="12" name="TextBox 11"/>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Nguồn public cho tin tuyển dụng; fixture riêng cho luồng graph và giới thiệu.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GIỚI HẠN VÀ HƯỚNG PHÁT TRIỂN</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19 / 20</a:t>
            </a:r>
          </a:p>
        </p:txBody>
      </p:sp>
      <p:sp>
        <p:nvSpPr>
          <p:cNvPr id="4" name="Rounded Rectangle 3"/>
          <p:cNvSpPr/>
          <p:nvPr/>
        </p:nvSpPr>
        <p:spPr>
          <a:xfrm>
            <a:off x="548640"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5" name="TextBox 4"/>
          <p:cNvSpPr txBox="1"/>
          <p:nvPr/>
        </p:nvSpPr>
        <p:spPr>
          <a:xfrm>
            <a:off x="731520"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Gợi ý theo quy tắc</a:t>
            </a:r>
          </a:p>
        </p:txBody>
      </p:sp>
      <p:sp>
        <p:nvSpPr>
          <p:cNvPr id="6" name="TextBox 5"/>
          <p:cNvSpPr txBox="1"/>
          <p:nvPr/>
        </p:nvSpPr>
        <p:spPr>
          <a:xfrm>
            <a:off x="731520"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Thu thập phản hồi có consent</a:t>
            </a:r>
          </a:p>
          <a:p>
            <a:pPr algn="l">
              <a:lnSpc>
                <a:spcPct val="112000"/>
              </a:lnSpc>
              <a:spcBef>
                <a:spcPts val="0"/>
              </a:spcBef>
              <a:spcAft>
                <a:spcPts val="600"/>
              </a:spcAft>
            </a:pPr>
            <a:r>
              <a:rPr sz="2300" b="0">
                <a:solidFill>
                  <a:srgbClr val="123653"/>
                </a:solidFill>
                <a:latin typeface="Arial"/>
              </a:rPr>
              <a:t>và hiệu chỉnh trọng số.</a:t>
            </a:r>
          </a:p>
        </p:txBody>
      </p:sp>
      <p:sp>
        <p:nvSpPr>
          <p:cNvPr id="7" name="Rounded Rectangle 6"/>
          <p:cNvSpPr/>
          <p:nvPr/>
        </p:nvSpPr>
        <p:spPr>
          <a:xfrm>
            <a:off x="4315968"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8" name="TextBox 7"/>
          <p:cNvSpPr txBox="1"/>
          <p:nvPr/>
        </p:nvSpPr>
        <p:spPr>
          <a:xfrm>
            <a:off x="4498848"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Dữ liệu hạn chế</a:t>
            </a:r>
          </a:p>
        </p:txBody>
      </p:sp>
      <p:sp>
        <p:nvSpPr>
          <p:cNvPr id="9" name="TextBox 8"/>
          <p:cNvSpPr txBox="1"/>
          <p:nvPr/>
        </p:nvSpPr>
        <p:spPr>
          <a:xfrm>
            <a:off x="4498848"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Đồng bộ tin, xác minh</a:t>
            </a:r>
          </a:p>
          <a:p>
            <a:pPr algn="l">
              <a:lnSpc>
                <a:spcPct val="112000"/>
              </a:lnSpc>
              <a:spcBef>
                <a:spcPts val="0"/>
              </a:spcBef>
              <a:spcAft>
                <a:spcPts val="600"/>
              </a:spcAft>
            </a:pPr>
            <a:r>
              <a:rPr sz="2300" b="0">
                <a:solidFill>
                  <a:srgbClr val="123653"/>
                </a:solidFill>
                <a:latin typeface="Arial"/>
              </a:rPr>
              <a:t>employment, thêm email/ATS.</a:t>
            </a:r>
          </a:p>
        </p:txBody>
      </p:sp>
      <p:sp>
        <p:nvSpPr>
          <p:cNvPr id="10" name="Rounded Rectangle 9"/>
          <p:cNvSpPr/>
          <p:nvPr/>
        </p:nvSpPr>
        <p:spPr>
          <a:xfrm>
            <a:off x="8083296" y="1965960"/>
            <a:ext cx="3547872" cy="3383280"/>
          </a:xfrm>
          <a:prstGeom prst="roundRect">
            <a:avLst/>
          </a:prstGeom>
          <a:solidFill>
            <a:srgbClr val="EDF4FA"/>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36576"/>
          <a:lstStyle/>
          <a:p>
            <a:pPr algn="l">
              <a:lnSpc>
                <a:spcPct val="112000"/>
              </a:lnSpc>
              <a:spcBef>
                <a:spcPts val="0"/>
              </a:spcBef>
              <a:spcAft>
                <a:spcPts val="600"/>
              </a:spcAft>
            </a:pPr>
            <a:r>
              <a:rPr sz="2400" b="0">
                <a:solidFill>
                  <a:srgbClr val="123653"/>
                </a:solidFill>
                <a:latin typeface="Arial"/>
              </a:rPr>
              <a:t/>
            </a:r>
          </a:p>
        </p:txBody>
      </p:sp>
      <p:sp>
        <p:nvSpPr>
          <p:cNvPr id="11" name="TextBox 10"/>
          <p:cNvSpPr txBox="1"/>
          <p:nvPr/>
        </p:nvSpPr>
        <p:spPr>
          <a:xfrm>
            <a:off x="8266175" y="2240279"/>
            <a:ext cx="3182112" cy="86868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MVP chạy local</a:t>
            </a:r>
          </a:p>
        </p:txBody>
      </p:sp>
      <p:sp>
        <p:nvSpPr>
          <p:cNvPr id="12" name="TextBox 11"/>
          <p:cNvSpPr txBox="1"/>
          <p:nvPr/>
        </p:nvSpPr>
        <p:spPr>
          <a:xfrm>
            <a:off x="8266175" y="3246120"/>
            <a:ext cx="3182112" cy="1783080"/>
          </a:xfrm>
          <a:prstGeom prst="rect">
            <a:avLst/>
          </a:prstGeom>
          <a:noFill/>
        </p:spPr>
        <p:txBody>
          <a:bodyPr wrap="square" lIns="0" rIns="0" tIns="0" bIns="36576">
            <a:spAutoFit/>
          </a:bodyPr>
          <a:lstStyle/>
          <a:p>
            <a:pPr algn="l">
              <a:lnSpc>
                <a:spcPct val="112000"/>
              </a:lnSpc>
              <a:spcBef>
                <a:spcPts val="0"/>
              </a:spcBef>
              <a:spcAft>
                <a:spcPts val="600"/>
              </a:spcAft>
            </a:pPr>
            <a:r>
              <a:rPr sz="2300" b="0">
                <a:solidFill>
                  <a:srgbClr val="123653"/>
                </a:solidFill>
                <a:latin typeface="Arial"/>
              </a:rPr>
              <a:t>Đo tải, tối ưu khóa</a:t>
            </a:r>
          </a:p>
          <a:p>
            <a:pPr algn="l">
              <a:lnSpc>
                <a:spcPct val="112000"/>
              </a:lnSpc>
              <a:spcBef>
                <a:spcPts val="0"/>
              </a:spcBef>
              <a:spcAft>
                <a:spcPts val="600"/>
              </a:spcAft>
            </a:pPr>
            <a:r>
              <a:rPr sz="2300" b="0">
                <a:solidFill>
                  <a:srgbClr val="123653"/>
                </a:solidFill>
                <a:latin typeface="Arial"/>
              </a:rPr>
              <a:t>và hoàn thiện vận hành.</a:t>
            </a:r>
          </a:p>
        </p:txBody>
      </p:sp>
      <p:sp>
        <p:nvSpPr>
          <p:cNvPr id="13" name="TextBox 12"/>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Chưa đánh giá độ chính xác với người dùng thật; chưa nghiệm thu production.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941832"/>
            <a:ext cx="11018520" cy="658368"/>
          </a:xfrm>
          <a:prstGeom prst="rect">
            <a:avLst/>
          </a:prstGeom>
          <a:noFill/>
        </p:spPr>
        <p:txBody>
          <a:bodyPr wrap="square" lIns="0" rIns="0" tIns="0" bIns="36576">
            <a:spAutoFit/>
          </a:bodyPr>
          <a:lstStyle/>
          <a:p>
            <a:pPr algn="l">
              <a:lnSpc>
                <a:spcPct val="112000"/>
              </a:lnSpc>
              <a:spcBef>
                <a:spcPts val="0"/>
              </a:spcBef>
              <a:spcAft>
                <a:spcPts val="600"/>
              </a:spcAft>
            </a:pPr>
            <a:r>
              <a:rPr sz="3000" b="1">
                <a:solidFill>
                  <a:srgbClr val="005BAA"/>
                </a:solidFill>
                <a:latin typeface="Arial"/>
              </a:rPr>
              <a:t>KẾT LUẬN VÀ TRAO ĐỔI</a:t>
            </a:r>
          </a:p>
        </p:txBody>
      </p:sp>
      <p:sp>
        <p:nvSpPr>
          <p:cNvPr id="3" name="TextBox 2"/>
          <p:cNvSpPr txBox="1"/>
          <p:nvPr/>
        </p:nvSpPr>
        <p:spPr>
          <a:xfrm>
            <a:off x="10652760" y="164592"/>
            <a:ext cx="960120" cy="292608"/>
          </a:xfrm>
          <a:prstGeom prst="rect">
            <a:avLst/>
          </a:prstGeom>
          <a:noFill/>
        </p:spPr>
        <p:txBody>
          <a:bodyPr wrap="square" lIns="0" rIns="0" tIns="0" bIns="36576">
            <a:spAutoFit/>
          </a:bodyPr>
          <a:lstStyle/>
          <a:p>
            <a:pPr algn="r">
              <a:lnSpc>
                <a:spcPct val="112000"/>
              </a:lnSpc>
              <a:spcBef>
                <a:spcPts val="0"/>
              </a:spcBef>
              <a:spcAft>
                <a:spcPts val="600"/>
              </a:spcAft>
            </a:pPr>
            <a:r>
              <a:rPr sz="1400" b="0">
                <a:solidFill>
                  <a:srgbClr val="FFFFFF"/>
                </a:solidFill>
                <a:latin typeface="Arial"/>
              </a:rPr>
              <a:t>20 / 20</a:t>
            </a:r>
          </a:p>
        </p:txBody>
      </p:sp>
      <p:sp>
        <p:nvSpPr>
          <p:cNvPr id="4" name="TextBox 3"/>
          <p:cNvSpPr txBox="1"/>
          <p:nvPr/>
        </p:nvSpPr>
        <p:spPr>
          <a:xfrm>
            <a:off x="640080" y="1874519"/>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a:t>
            </a:r>
          </a:p>
        </p:txBody>
      </p:sp>
      <p:sp>
        <p:nvSpPr>
          <p:cNvPr id="5" name="TextBox 4"/>
          <p:cNvSpPr txBox="1"/>
          <p:nvPr/>
        </p:nvSpPr>
        <p:spPr>
          <a:xfrm>
            <a:off x="1005840" y="1874519"/>
            <a:ext cx="10424160" cy="868680"/>
          </a:xfrm>
          <a:prstGeom prst="rect">
            <a:avLst/>
          </a:prstGeom>
          <a:noFill/>
        </p:spPr>
        <p:txBody>
          <a:bodyPr wrap="square" lIns="0" rIns="0" tIns="0" bIns="36576">
            <a:spAutoFit/>
          </a:bodyPr>
          <a:lstStyle/>
          <a:p>
            <a:pPr algn="l">
              <a:lnSpc>
                <a:spcPct val="112000"/>
              </a:lnSpc>
              <a:spcBef>
                <a:spcPts val="0"/>
              </a:spcBef>
              <a:spcAft>
                <a:spcPts val="600"/>
              </a:spcAft>
            </a:pPr>
            <a:r>
              <a:rPr sz="2700" b="0">
                <a:solidFill>
                  <a:srgbClr val="123653"/>
                </a:solidFill>
                <a:latin typeface="Arial"/>
              </a:rPr>
              <a:t>ArangoDB là lõi của matching và tìm đường graph.</a:t>
            </a:r>
          </a:p>
        </p:txBody>
      </p:sp>
      <p:sp>
        <p:nvSpPr>
          <p:cNvPr id="6" name="TextBox 5"/>
          <p:cNvSpPr txBox="1"/>
          <p:nvPr/>
        </p:nvSpPr>
        <p:spPr>
          <a:xfrm>
            <a:off x="640080" y="2834639"/>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a:t>
            </a:r>
          </a:p>
        </p:txBody>
      </p:sp>
      <p:sp>
        <p:nvSpPr>
          <p:cNvPr id="7" name="TextBox 6"/>
          <p:cNvSpPr txBox="1"/>
          <p:nvPr/>
        </p:nvSpPr>
        <p:spPr>
          <a:xfrm>
            <a:off x="1005840" y="2834639"/>
            <a:ext cx="10424160" cy="868680"/>
          </a:xfrm>
          <a:prstGeom prst="rect">
            <a:avLst/>
          </a:prstGeom>
          <a:noFill/>
        </p:spPr>
        <p:txBody>
          <a:bodyPr wrap="square" lIns="0" rIns="0" tIns="0" bIns="36576">
            <a:spAutoFit/>
          </a:bodyPr>
          <a:lstStyle/>
          <a:p>
            <a:pPr algn="l">
              <a:lnSpc>
                <a:spcPct val="112000"/>
              </a:lnSpc>
              <a:spcBef>
                <a:spcPts val="0"/>
              </a:spcBef>
              <a:spcAft>
                <a:spcPts val="600"/>
              </a:spcAft>
            </a:pPr>
            <a:r>
              <a:rPr sz="2700" b="0">
                <a:solidFill>
                  <a:srgbClr val="123653"/>
                </a:solidFill>
                <a:latin typeface="Arial"/>
              </a:rPr>
              <a:t>Sản phẩm có giao diện, API và dữ liệu thật.</a:t>
            </a:r>
          </a:p>
        </p:txBody>
      </p:sp>
      <p:sp>
        <p:nvSpPr>
          <p:cNvPr id="8" name="TextBox 7"/>
          <p:cNvSpPr txBox="1"/>
          <p:nvPr/>
        </p:nvSpPr>
        <p:spPr>
          <a:xfrm>
            <a:off x="640080" y="3794760"/>
            <a:ext cx="228600" cy="594360"/>
          </a:xfrm>
          <a:prstGeom prst="rect">
            <a:avLst/>
          </a:prstGeom>
          <a:noFill/>
        </p:spPr>
        <p:txBody>
          <a:bodyPr wrap="square" lIns="0" rIns="0" tIns="0" bIns="36576">
            <a:spAutoFit/>
          </a:bodyPr>
          <a:lstStyle/>
          <a:p>
            <a:pPr algn="l">
              <a:lnSpc>
                <a:spcPct val="112000"/>
              </a:lnSpc>
              <a:spcBef>
                <a:spcPts val="0"/>
              </a:spcBef>
              <a:spcAft>
                <a:spcPts val="600"/>
              </a:spcAft>
            </a:pPr>
            <a:r>
              <a:rPr sz="2700" b="1">
                <a:solidFill>
                  <a:srgbClr val="005BAA"/>
                </a:solidFill>
                <a:latin typeface="Arial"/>
              </a:rPr>
              <a:t>•</a:t>
            </a:r>
          </a:p>
        </p:txBody>
      </p:sp>
      <p:sp>
        <p:nvSpPr>
          <p:cNvPr id="9" name="TextBox 8"/>
          <p:cNvSpPr txBox="1"/>
          <p:nvPr/>
        </p:nvSpPr>
        <p:spPr>
          <a:xfrm>
            <a:off x="1005840" y="3794760"/>
            <a:ext cx="10424160" cy="868680"/>
          </a:xfrm>
          <a:prstGeom prst="rect">
            <a:avLst/>
          </a:prstGeom>
          <a:noFill/>
        </p:spPr>
        <p:txBody>
          <a:bodyPr wrap="square" lIns="0" rIns="0" tIns="0" bIns="36576">
            <a:spAutoFit/>
          </a:bodyPr>
          <a:lstStyle/>
          <a:p>
            <a:pPr algn="l">
              <a:lnSpc>
                <a:spcPct val="112000"/>
              </a:lnSpc>
              <a:spcBef>
                <a:spcPts val="0"/>
              </a:spcBef>
              <a:spcAft>
                <a:spcPts val="600"/>
              </a:spcAft>
            </a:pPr>
            <a:r>
              <a:rPr sz="2700" b="0">
                <a:solidFill>
                  <a:srgbClr val="123653"/>
                </a:solidFill>
                <a:latin typeface="Arial"/>
              </a:rPr>
              <a:t>Có giải thích kết quả và bằng chứng kiểm thử.</a:t>
            </a:r>
          </a:p>
        </p:txBody>
      </p:sp>
      <p:sp>
        <p:nvSpPr>
          <p:cNvPr id="10" name="TextBox 9"/>
          <p:cNvSpPr txBox="1"/>
          <p:nvPr/>
        </p:nvSpPr>
        <p:spPr>
          <a:xfrm>
            <a:off x="731520" y="4864608"/>
            <a:ext cx="10789920" cy="502920"/>
          </a:xfrm>
          <a:prstGeom prst="rect">
            <a:avLst/>
          </a:prstGeom>
          <a:noFill/>
        </p:spPr>
        <p:txBody>
          <a:bodyPr wrap="square" lIns="0" rIns="0" tIns="0" bIns="36576">
            <a:spAutoFit/>
          </a:bodyPr>
          <a:lstStyle/>
          <a:p>
            <a:pPr algn="ctr">
              <a:lnSpc>
                <a:spcPct val="112000"/>
              </a:lnSpc>
              <a:spcBef>
                <a:spcPts val="0"/>
              </a:spcBef>
              <a:spcAft>
                <a:spcPts val="600"/>
              </a:spcAft>
            </a:pPr>
            <a:r>
              <a:rPr sz="3000" b="1">
                <a:solidFill>
                  <a:srgbClr val="005BAA"/>
                </a:solidFill>
                <a:latin typeface="Arial"/>
              </a:rPr>
              <a:t>CẢM ƠN THẦY CÔ VÀ CÁC BẠN</a:t>
            </a:r>
          </a:p>
        </p:txBody>
      </p:sp>
      <p:sp>
        <p:nvSpPr>
          <p:cNvPr id="11" name="TextBox 10"/>
          <p:cNvSpPr txBox="1"/>
          <p:nvPr/>
        </p:nvSpPr>
        <p:spPr>
          <a:xfrm>
            <a:off x="548640" y="6016752"/>
            <a:ext cx="10972800" cy="347472"/>
          </a:xfrm>
          <a:prstGeom prst="rect">
            <a:avLst/>
          </a:prstGeom>
          <a:noFill/>
        </p:spPr>
        <p:txBody>
          <a:bodyPr wrap="square" lIns="0" rIns="0" tIns="0" bIns="36576">
            <a:spAutoFit/>
          </a:bodyPr>
          <a:lstStyle/>
          <a:p>
            <a:pPr algn="l">
              <a:lnSpc>
                <a:spcPct val="112000"/>
              </a:lnSpc>
              <a:spcBef>
                <a:spcPts val="0"/>
              </a:spcBef>
              <a:spcAft>
                <a:spcPts val="600"/>
              </a:spcAft>
            </a:pPr>
            <a:r>
              <a:rPr sz="1500" b="0">
                <a:solidFill>
                  <a:srgbClr val="526575"/>
                </a:solidFill>
                <a:latin typeface="Arial"/>
              </a:rPr>
              <a:t>Nguồn: tài liệu ArangoDB 3.12 • mã nguồn và reports dự án • báo cáo kèm theo.</a:t>
            </a:r>
          </a:p>
        </p:txBody>
      </p:sp>
    </p:spTree>
  </p:cSld>
  <p:clrMapOvr>
    <a:masterClrMapping/>
  </p:clrMapOvr>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577</Words>
  <Application>Microsoft Macintosh PowerPoint</Application>
  <PresentationFormat>Widescreen</PresentationFormat>
  <Paragraphs>111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Myriad Pro</vt:lpstr>
      <vt:lpstr>Oswald</vt:lpstr>
      <vt:lpstr>Roboto Condensed</vt:lpstr>
      <vt:lpstr>1_Office Theme</vt:lpstr>
      <vt:lpstr>PowerPoint Presentation</vt:lpstr>
      <vt:lpstr>PowerPoint Presentation</vt:lpstr>
      <vt:lpstr>PowerPoint Presentation</vt:lpstr>
      <vt:lpstr>PowerPoint Presentation</vt:lpstr>
      <vt:lpstr>PowerPoint Presentation</vt:lpstr>
      <vt:lpstr>USE CHARTS TO EXPLAIN YOUR IDEAS</vt:lpstr>
      <vt:lpstr>PowerPoint Presentation</vt:lpstr>
      <vt:lpstr>PowerPoint Presentation</vt:lpstr>
      <vt:lpstr>TIMELINE</vt:lpstr>
      <vt:lpstr>ROADMAP</vt:lpstr>
      <vt:lpstr>SWOT ANALYSIS</vt:lpstr>
      <vt:lpstr>FUNNEL</vt:lpstr>
      <vt:lpstr>Diagrams and infographics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ArangoDB: gợi ý việc làm và đường kết nối giới thiệu</dc:title>
  <dc:creator>[Cần bổ sung thông tin nhóm]</dc:creator>
  <cp:lastModifiedBy>Võ Văn Vũ</cp:lastModifiedBy>
  <cp:revision>3</cp:revision>
  <dcterms:created xsi:type="dcterms:W3CDTF">2023-11-06T07:10:59Z</dcterms:created>
  <dcterms:modified xsi:type="dcterms:W3CDTF">2023-11-06T07:16:58Z</dcterms:modified>
  <dc:subject>Bài thuyết trình 20 slide theo mẫu nhận diện HUIT</dc:subject>
</cp:coreProperties>
</file>